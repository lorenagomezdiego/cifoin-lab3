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3"/>
  </p:notesMasterIdLst>
  <p:handoutMasterIdLst>
    <p:handoutMasterId r:id="rId14"/>
  </p:handoutMasterIdLst>
  <p:sldIdLst>
    <p:sldId id="256" r:id="rId2"/>
    <p:sldId id="289" r:id="rId3"/>
    <p:sldId id="290" r:id="rId4"/>
    <p:sldId id="296" r:id="rId5"/>
    <p:sldId id="375" r:id="rId6"/>
    <p:sldId id="376" r:id="rId7"/>
    <p:sldId id="377" r:id="rId8"/>
    <p:sldId id="388" r:id="rId9"/>
    <p:sldId id="380" r:id="rId10"/>
    <p:sldId id="381" r:id="rId11"/>
    <p:sldId id="288" r:id="rId12"/>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538" autoAdjust="0"/>
    <p:restoredTop sz="95033" autoAdjust="0"/>
  </p:normalViewPr>
  <p:slideViewPr>
    <p:cSldViewPr>
      <p:cViewPr varScale="1">
        <p:scale>
          <a:sx n="79" d="100"/>
          <a:sy n="79" d="100"/>
        </p:scale>
        <p:origin x="1210" y="72"/>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03/05/2026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03/05/2026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DCA2C-DC1C-94AC-4B44-E792E810571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3DDFC22-9D5D-07E4-D6DC-4D9F86CC1C7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DFDA27A-7867-5B97-DBC7-5AFE21A3C8C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3521375-3405-AFF1-9827-86123C005F32}"/>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35748841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3.0. CIRCUITS &amp; COMPACT MODELS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exto simple">
    <p:spTree>
      <p:nvGrpSpPr>
        <p:cNvPr id="1" name=""/>
        <p:cNvGrpSpPr/>
        <p:nvPr/>
      </p:nvGrpSpPr>
      <p:grpSpPr>
        <a:xfrm>
          <a:off x="0" y="0"/>
          <a:ext cx="0" cy="0"/>
          <a:chOff x="0" y="0"/>
          <a:chExt cx="0" cy="0"/>
        </a:xfrm>
      </p:grpSpPr>
      <p:sp>
        <p:nvSpPr>
          <p:cNvPr id="6" name="Rectangle 47"/>
          <p:cNvSpPr/>
          <p:nvPr userDrawn="1"/>
        </p:nvSpPr>
        <p:spPr>
          <a:xfrm>
            <a:off x="608171" y="381001"/>
            <a:ext cx="45731" cy="68349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ítulo 8"/>
          <p:cNvSpPr>
            <a:spLocks noGrp="1"/>
          </p:cNvSpPr>
          <p:nvPr>
            <p:ph type="title" hasCustomPrompt="1"/>
          </p:nvPr>
        </p:nvSpPr>
        <p:spPr>
          <a:xfrm>
            <a:off x="736652" y="381000"/>
            <a:ext cx="7778317" cy="313782"/>
          </a:xfrm>
        </p:spPr>
        <p:txBody>
          <a:bodyPr>
            <a:normAutofit/>
          </a:bodyPr>
          <a:lstStyle>
            <a:lvl1pPr algn="l">
              <a:defRPr sz="2800" b="1" i="0" baseline="0">
                <a:solidFill>
                  <a:schemeClr val="tx1">
                    <a:lumMod val="65000"/>
                    <a:lumOff val="35000"/>
                  </a:schemeClr>
                </a:solidFill>
                <a:latin typeface="Calibri" panose="020F0502020204030204" pitchFamily="34" charset="0"/>
                <a:ea typeface="Open Sans Extrabold" panose="020B0906030804020204" pitchFamily="34" charset="0"/>
                <a:cs typeface="Calibri" panose="020F0502020204030204" pitchFamily="34" charset="0"/>
              </a:defRPr>
            </a:lvl1pPr>
          </a:lstStyle>
          <a:p>
            <a:r>
              <a:rPr lang="es-ES" dirty="0"/>
              <a:t>TITULO</a:t>
            </a:r>
          </a:p>
        </p:txBody>
      </p:sp>
      <p:sp>
        <p:nvSpPr>
          <p:cNvPr id="13" name="Marcador de texto 12"/>
          <p:cNvSpPr>
            <a:spLocks noGrp="1"/>
          </p:cNvSpPr>
          <p:nvPr>
            <p:ph type="body" sz="quarter" idx="10" hasCustomPrompt="1"/>
          </p:nvPr>
        </p:nvSpPr>
        <p:spPr>
          <a:xfrm>
            <a:off x="608171" y="1295401"/>
            <a:ext cx="11051877" cy="4958137"/>
          </a:xfrm>
        </p:spPr>
        <p:txBody>
          <a:bodyPr>
            <a:normAutofit/>
          </a:bodyPr>
          <a:lstStyle>
            <a:lvl1pPr>
              <a:defRPr sz="2400" baseline="0">
                <a:latin typeface="Calibri" panose="020F0502020204030204" pitchFamily="34" charset="0"/>
                <a:ea typeface="Open Sans Light" panose="020B0306030504020204" pitchFamily="34" charset="0"/>
                <a:cs typeface="Calibri" panose="020F0502020204030204" pitchFamily="34" charset="0"/>
              </a:defRPr>
            </a:lvl1pPr>
            <a:lvl2pPr>
              <a:defRPr sz="1800">
                <a:latin typeface="Calibri" panose="020F0502020204030204" pitchFamily="34" charset="0"/>
                <a:ea typeface="Open Sans Light" panose="020B0306030504020204" pitchFamily="34" charset="0"/>
                <a:cs typeface="Calibri" panose="020F0502020204030204" pitchFamily="34" charset="0"/>
              </a:defRPr>
            </a:lvl2pPr>
            <a:lvl3pPr>
              <a:defRPr sz="1600">
                <a:latin typeface="Calibri" panose="020F0502020204030204" pitchFamily="34" charset="0"/>
                <a:ea typeface="Open Sans Light" panose="020B0306030504020204" pitchFamily="34" charset="0"/>
                <a:cs typeface="Calibri" panose="020F0502020204030204" pitchFamily="34" charset="0"/>
              </a:defRPr>
            </a:lvl3pPr>
            <a:lvl4pPr>
              <a:defRPr sz="1400">
                <a:latin typeface="Calibri" panose="020F0502020204030204" pitchFamily="34" charset="0"/>
                <a:ea typeface="Open Sans Light" panose="020B0306030504020204" pitchFamily="34" charset="0"/>
                <a:cs typeface="Calibri" panose="020F0502020204030204" pitchFamily="34" charset="0"/>
              </a:defRPr>
            </a:lvl4pPr>
            <a:lvl5pPr>
              <a:defRPr sz="1400">
                <a:latin typeface="Calibri" panose="020F0502020204030204" pitchFamily="34" charset="0"/>
                <a:ea typeface="Open Sans Light" panose="020B0306030504020204" pitchFamily="34" charset="0"/>
                <a:cs typeface="Calibri" panose="020F0502020204030204" pitchFamily="34" charset="0"/>
              </a:defRPr>
            </a:lvl5pPr>
          </a:lstStyle>
          <a:p>
            <a:pPr lvl="0"/>
            <a:r>
              <a:rPr lang="es-ES" dirty="0"/>
              <a:t>Texto del contenido</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23" name="Marcador de texto 22"/>
          <p:cNvSpPr>
            <a:spLocks noGrp="1"/>
          </p:cNvSpPr>
          <p:nvPr>
            <p:ph type="body" sz="quarter" idx="11" hasCustomPrompt="1"/>
          </p:nvPr>
        </p:nvSpPr>
        <p:spPr>
          <a:xfrm>
            <a:off x="736652" y="730647"/>
            <a:ext cx="7778317" cy="381000"/>
          </a:xfrm>
        </p:spPr>
        <p:txBody>
          <a:bodyPr>
            <a:noAutofit/>
          </a:bodyPr>
          <a:lstStyle>
            <a:lvl1pPr marL="0" indent="0">
              <a:buNone/>
              <a:defRPr sz="2000">
                <a:latin typeface="Calibri" panose="020F0502020204030204" pitchFamily="34" charset="0"/>
                <a:ea typeface="Open Sans Light" panose="020B0306030504020204" pitchFamily="34" charset="0"/>
                <a:cs typeface="Calibri" panose="020F0502020204030204" pitchFamily="34" charset="0"/>
              </a:defRPr>
            </a:lvl1pPr>
          </a:lstStyle>
          <a:p>
            <a:pPr lvl="0"/>
            <a:r>
              <a:rPr lang="es-ES" dirty="0"/>
              <a:t>Subtítulo del artículo con una explicación corta a modo resumen</a:t>
            </a:r>
          </a:p>
        </p:txBody>
      </p:sp>
      <p:sp>
        <p:nvSpPr>
          <p:cNvPr id="11" name="Date Placeholder 3"/>
          <p:cNvSpPr>
            <a:spLocks noGrp="1"/>
          </p:cNvSpPr>
          <p:nvPr>
            <p:ph type="dt" sz="half" idx="2"/>
          </p:nvPr>
        </p:nvSpPr>
        <p:spPr>
          <a:xfrm>
            <a:off x="609600" y="6387407"/>
            <a:ext cx="1980287" cy="303019"/>
          </a:xfrm>
          <a:prstGeom prst="rect">
            <a:avLst/>
          </a:prstGeom>
        </p:spPr>
        <p:txBody>
          <a:bodyPr vert="horz" lIns="117208" tIns="58604" rIns="117208" bIns="58604" rtlCol="0" anchor="ctr"/>
          <a:lstStyle>
            <a:lvl1pPr algn="l">
              <a:defRPr sz="1200">
                <a:solidFill>
                  <a:schemeClr val="tx1">
                    <a:tint val="75000"/>
                  </a:schemeClr>
                </a:solidFill>
              </a:defRPr>
            </a:lvl1pPr>
          </a:lstStyle>
          <a:p>
            <a:endParaRPr lang="en-US" dirty="0"/>
          </a:p>
        </p:txBody>
      </p:sp>
      <p:sp>
        <p:nvSpPr>
          <p:cNvPr id="12" name="Footer Placeholder 4"/>
          <p:cNvSpPr>
            <a:spLocks noGrp="1"/>
          </p:cNvSpPr>
          <p:nvPr>
            <p:ph type="ftr" sz="quarter" idx="3"/>
          </p:nvPr>
        </p:nvSpPr>
        <p:spPr>
          <a:xfrm>
            <a:off x="2894768" y="6387407"/>
            <a:ext cx="6402465" cy="303019"/>
          </a:xfrm>
          <a:prstGeom prst="rect">
            <a:avLst/>
          </a:prstGeom>
        </p:spPr>
        <p:txBody>
          <a:bodyPr vert="horz" lIns="117208" tIns="58604" rIns="117208" bIns="58604" rtlCol="0" anchor="ctr"/>
          <a:lstStyle>
            <a:lvl1pPr algn="ctr">
              <a:defRPr sz="1200">
                <a:solidFill>
                  <a:schemeClr val="tx1">
                    <a:tint val="75000"/>
                  </a:schemeClr>
                </a:solidFill>
              </a:defRPr>
            </a:lvl1pPr>
          </a:lstStyle>
          <a:p>
            <a:r>
              <a:rPr lang="en-US"/>
              <a:t>LAB 3.0. CIRCUITS &amp; COMPACT MODELS</a:t>
            </a:r>
          </a:p>
        </p:txBody>
      </p:sp>
      <p:sp>
        <p:nvSpPr>
          <p:cNvPr id="14" name="Slide Number Placeholder 5"/>
          <p:cNvSpPr>
            <a:spLocks noGrp="1"/>
          </p:cNvSpPr>
          <p:nvPr>
            <p:ph type="sldNum" sz="quarter" idx="4"/>
          </p:nvPr>
        </p:nvSpPr>
        <p:spPr>
          <a:xfrm>
            <a:off x="11431389" y="6388096"/>
            <a:ext cx="760611" cy="303019"/>
          </a:xfrm>
          <a:prstGeom prst="rect">
            <a:avLst/>
          </a:prstGeom>
          <a:solidFill>
            <a:schemeClr val="bg2"/>
          </a:solidFill>
        </p:spPr>
        <p:txBody>
          <a:bodyPr vert="horz" lIns="117208" tIns="58604" rIns="117208" bIns="58604" rtlCol="0" anchor="ctr"/>
          <a:lstStyle>
            <a:lvl1pPr algn="r">
              <a:defRPr sz="1200">
                <a:solidFill>
                  <a:srgbClr val="FF6309"/>
                </a:solidFill>
              </a:defRPr>
            </a:lvl1pPr>
          </a:lstStyle>
          <a:p>
            <a:fld id="{C2F52289-4012-4053-9770-FE82CEB9514F}" type="slidenum">
              <a:rPr lang="en-US" smtClean="0"/>
              <a:pPr/>
              <a:t>‹Nº›</a:t>
            </a:fld>
            <a:endParaRPr lang="en-US" dirty="0"/>
          </a:p>
        </p:txBody>
      </p:sp>
    </p:spTree>
    <p:extLst>
      <p:ext uri="{BB962C8B-B14F-4D97-AF65-F5344CB8AC3E}">
        <p14:creationId xmlns:p14="http://schemas.microsoft.com/office/powerpoint/2010/main" val="3024640384"/>
      </p:ext>
    </p:extLst>
  </p:cSld>
  <p:clrMapOvr>
    <a:masterClrMapping/>
  </p:clrMapOvr>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8"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sv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9213724" cy="505267"/>
          </a:xfrm>
          <a:prstGeom prst="rect">
            <a:avLst/>
          </a:prstGeom>
        </p:spPr>
        <p:txBody>
          <a:bodyPr vert="horz" wrap="square" lIns="0" tIns="12700" rIns="0" bIns="0" rtlCol="0">
            <a:spAutoFit/>
          </a:bodyPr>
          <a:lstStyle/>
          <a:p>
            <a:pPr marL="12700">
              <a:lnSpc>
                <a:spcPct val="100000"/>
              </a:lnSpc>
              <a:spcBef>
                <a:spcPts val="100"/>
              </a:spcBef>
            </a:pPr>
            <a:r>
              <a:rPr lang="es-ES" sz="3200" b="1" dirty="0">
                <a:latin typeface="Lucida Sans"/>
                <a:cs typeface="Lucida Sans"/>
              </a:rPr>
              <a:t>Lab Book 3.0 Circuits and Compact </a:t>
            </a:r>
            <a:r>
              <a:rPr lang="es-ES" sz="3200" b="1" dirty="0" err="1">
                <a:latin typeface="Lucida Sans"/>
                <a:cs typeface="Lucida Sans"/>
              </a:rPr>
              <a:t>Models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a:t>
            </a:r>
            <a:r>
              <a:rPr lang="es-ES" spc="165" dirty="0">
                <a:latin typeface="Arial"/>
                <a:cs typeface="Arial"/>
              </a:rPr>
              <a:t>: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3.0. CIRCUITS &amp; COMPACT MODELS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https://github.com/cccanvas-upv/cifoin-lab3.git</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a:solidFill>
                  <a:sysClr val="windowText" lastClr="000000"/>
                </a:solidFill>
              </a:rPr>
              <a:t>CIRCUITS_&amp;_</a:t>
            </a:r>
            <a:r>
              <a:rPr lang="en-US" kern="0" dirty="0" err="1">
                <a:solidFill>
                  <a:sysClr val="windowText" lastClr="000000"/>
                </a:solidFill>
              </a:rPr>
              <a:t>COMPACT_MODELS.ipynb</a:t>
            </a:r>
            <a:r>
              <a:rPr lang="en-US" kern="0" dirty="0">
                <a:solidFill>
                  <a:sysClr val="windowText" lastClr="000000"/>
                </a:solidFill>
              </a:rPr>
              <a:t> </a:t>
            </a:r>
          </a:p>
          <a:p>
            <a:pPr algn="just"/>
            <a:endParaRPr lang="en-US" b="1" i="1" dirty="0"/>
          </a:p>
          <a:p>
            <a:pPr algn="just"/>
            <a:r>
              <a:rPr lang="en-US" b="1" i="1" dirty="0"/>
              <a:t>Devices </a:t>
            </a:r>
            <a:r>
              <a:rPr lang="en-US" i="1" dirty="0"/>
              <a:t>to be studied:</a:t>
            </a:r>
            <a:endParaRPr lang="en-US" b="1" i="1" dirty="0"/>
          </a:p>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8077200" y="5582965"/>
            <a:ext cx="2176237" cy="369332"/>
          </a:xfrm>
          <a:prstGeom prst="rect">
            <a:avLst/>
          </a:prstGeom>
          <a:noFill/>
        </p:spPr>
        <p:txBody>
          <a:bodyPr wrap="none" rtlCol="0">
            <a:spAutoFit/>
          </a:bodyPr>
          <a:lstStyle/>
          <a:p>
            <a:pPr algn="r"/>
            <a:r>
              <a:rPr lang="en-US" b="1" dirty="0"/>
              <a:t>Ring Resonators (RR)</a:t>
            </a:r>
            <a:endParaRPr lang="en-US" dirty="0"/>
          </a:p>
        </p:txBody>
      </p:sp>
      <p:sp>
        <p:nvSpPr>
          <p:cNvPr id="8" name="CuadroTexto 7">
            <a:extLst>
              <a:ext uri="{FF2B5EF4-FFF2-40B4-BE49-F238E27FC236}">
                <a16:creationId xmlns:a16="http://schemas.microsoft.com/office/drawing/2014/main" id="{7336B5D8-2D70-3E7A-336D-AF55EC49DEB8}"/>
              </a:ext>
            </a:extLst>
          </p:cNvPr>
          <p:cNvSpPr txBox="1"/>
          <p:nvPr/>
        </p:nvSpPr>
        <p:spPr>
          <a:xfrm>
            <a:off x="1039582" y="5579058"/>
            <a:ext cx="4176324" cy="369332"/>
          </a:xfrm>
          <a:prstGeom prst="rect">
            <a:avLst/>
          </a:prstGeom>
          <a:noFill/>
        </p:spPr>
        <p:txBody>
          <a:bodyPr wrap="square">
            <a:spAutoFit/>
          </a:bodyPr>
          <a:lstStyle/>
          <a:p>
            <a:pPr algn="ctr"/>
            <a:r>
              <a:rPr lang="en-US" b="1" dirty="0"/>
              <a:t>Mach-Zehnder Interferometer (MZI)</a:t>
            </a:r>
            <a:endParaRPr lang="en-US" dirty="0"/>
          </a:p>
        </p:txBody>
      </p:sp>
      <p:pic>
        <p:nvPicPr>
          <p:cNvPr id="6" name="Imagen 5" descr="Forma, Rectángulo&#10;&#10;El contenido generado por IA puede ser incorrecto.">
            <a:extLst>
              <a:ext uri="{FF2B5EF4-FFF2-40B4-BE49-F238E27FC236}">
                <a16:creationId xmlns:a16="http://schemas.microsoft.com/office/drawing/2014/main" id="{91C2AB39-AF40-7700-840D-38F2C1813CB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428" y="3996612"/>
            <a:ext cx="5240632" cy="1246789"/>
          </a:xfrm>
          <a:prstGeom prst="rect">
            <a:avLst/>
          </a:prstGeom>
        </p:spPr>
      </p:pic>
      <p:pic>
        <p:nvPicPr>
          <p:cNvPr id="14" name="Imagen 13" descr="Imagen que contiene Forma&#10;&#10;El contenido generado por IA puede ser incorrecto.">
            <a:extLst>
              <a:ext uri="{FF2B5EF4-FFF2-40B4-BE49-F238E27FC236}">
                <a16:creationId xmlns:a16="http://schemas.microsoft.com/office/drawing/2014/main" id="{43CD26B4-EB7C-61CA-1BCF-B2AD5F6ED004}"/>
              </a:ext>
            </a:extLst>
          </p:cNvPr>
          <p:cNvPicPr>
            <a:picLocks noChangeAspect="1"/>
          </p:cNvPicPr>
          <p:nvPr/>
        </p:nvPicPr>
        <p:blipFill>
          <a:blip r:embed="rId4" cstate="print">
            <a:extLst>
              <a:ext uri="{28A0092B-C50C-407E-A947-70E740481C1C}">
                <a14:useLocalDpi xmlns:a14="http://schemas.microsoft.com/office/drawing/2010/main" val="0"/>
              </a:ext>
            </a:extLst>
          </a:blip>
          <a:srcRect r="68044"/>
          <a:stretch>
            <a:fillRect/>
          </a:stretch>
        </p:blipFill>
        <p:spPr>
          <a:xfrm>
            <a:off x="6624590" y="3638327"/>
            <a:ext cx="2402774" cy="1900395"/>
          </a:xfrm>
          <a:prstGeom prst="rect">
            <a:avLst/>
          </a:prstGeom>
        </p:spPr>
      </p:pic>
      <p:pic>
        <p:nvPicPr>
          <p:cNvPr id="15" name="Imagen 14" descr="Imagen que contiene Forma&#10;&#10;El contenido generado por IA puede ser incorrecto.">
            <a:extLst>
              <a:ext uri="{FF2B5EF4-FFF2-40B4-BE49-F238E27FC236}">
                <a16:creationId xmlns:a16="http://schemas.microsoft.com/office/drawing/2014/main" id="{B296E22E-7EA4-0FD2-7B98-F6CB5BB97AB9}"/>
              </a:ext>
            </a:extLst>
          </p:cNvPr>
          <p:cNvPicPr>
            <a:picLocks noChangeAspect="1"/>
          </p:cNvPicPr>
          <p:nvPr/>
        </p:nvPicPr>
        <p:blipFill>
          <a:blip r:embed="rId4" cstate="print">
            <a:extLst>
              <a:ext uri="{28A0092B-C50C-407E-A947-70E740481C1C}">
                <a14:useLocalDpi xmlns:a14="http://schemas.microsoft.com/office/drawing/2010/main" val="0"/>
              </a:ext>
            </a:extLst>
          </a:blip>
          <a:srcRect l="67258" r="786"/>
          <a:stretch>
            <a:fillRect/>
          </a:stretch>
        </p:blipFill>
        <p:spPr>
          <a:xfrm>
            <a:off x="9354819" y="3650394"/>
            <a:ext cx="2402774" cy="1900395"/>
          </a:xfrm>
          <a:prstGeom prst="rect">
            <a:avLst/>
          </a:prstGeom>
        </p:spPr>
      </p:pic>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228A8A28-0D43-C564-7B6A-20F75755616A}"/>
              </a:ext>
            </a:extLst>
          </p:cNvPr>
          <p:cNvSpPr/>
          <p:nvPr/>
        </p:nvSpPr>
        <p:spPr>
          <a:xfrm>
            <a:off x="6476400" y="1418373"/>
            <a:ext cx="5332571"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endParaRPr>
          </a:p>
          <a:p>
            <a:pPr algn="just"/>
            <a:endParaRPr lang="en-US" sz="1600" dirty="0">
              <a:solidFill>
                <a:schemeClr val="tx1"/>
              </a:solidFill>
              <a:latin typeface="Arial" panose="020B0604020202020204" pitchFamily="34" charset="0"/>
              <a:cs typeface="Arial" panose="020B0604020202020204" pitchFamily="34" charset="0"/>
            </a:endParaRPr>
          </a:p>
          <a:p>
            <a:pPr algn="just"/>
            <a:endParaRPr lang="en-US" sz="1600" dirty="0">
              <a:solidFill>
                <a:schemeClr val="tx1"/>
              </a:solidFill>
              <a:latin typeface="Arial" panose="020B0604020202020204" pitchFamily="34" charset="0"/>
              <a:cs typeface="Arial" panose="020B0604020202020204" pitchFamily="34" charset="0"/>
            </a:endParaRPr>
          </a:p>
        </p:txBody>
      </p:sp>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#1a – Perfectly balanced MZI</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3.0. CIRCUITS &amp; COMPACT MODELS</a:t>
            </a:r>
            <a:endParaRPr lang="es-ES" spc="-5" dirty="0"/>
          </a:p>
        </p:txBody>
      </p:sp>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629399" y="1556991"/>
            <a:ext cx="5050811" cy="2895600"/>
          </a:xfrm>
          <a:prstGeom prst="rect">
            <a:avLst/>
          </a:prstGeom>
        </p:spPr>
        <p:txBody>
          <a:bodyPr>
            <a:normAutofit lnSpcReduction="10000"/>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dirty="0"/>
              <a:t>INSTRUCTOR:</a:t>
            </a:r>
          </a:p>
          <a:p>
            <a:pPr marL="342900" indent="-342900" algn="just">
              <a:buFont typeface="Arial" panose="020B0604020202020204" pitchFamily="34" charset="0"/>
              <a:buChar char="•"/>
            </a:pPr>
            <a:r>
              <a:rPr lang="en-US" sz="2000" dirty="0"/>
              <a:t>Present Python and </a:t>
            </a:r>
            <a:r>
              <a:rPr lang="en-US" sz="2000" dirty="0" err="1"/>
              <a:t>GDSFactory</a:t>
            </a:r>
            <a:r>
              <a:rPr lang="en-US" sz="2000" dirty="0"/>
              <a:t> implementation of the Compact Models and Circuit Model</a:t>
            </a:r>
          </a:p>
          <a:p>
            <a:pPr marL="342900" indent="-342900" algn="just">
              <a:buFont typeface="Arial" panose="020B0604020202020204" pitchFamily="34" charset="0"/>
              <a:buChar char="•"/>
            </a:pPr>
            <a:r>
              <a:rPr lang="en-US" sz="2000" dirty="0"/>
              <a:t>Describe how to </a:t>
            </a:r>
            <a:r>
              <a:rPr lang="es-ES" sz="2000" dirty="0" err="1"/>
              <a:t>simulate</a:t>
            </a:r>
            <a:r>
              <a:rPr lang="es-ES" sz="2000" dirty="0"/>
              <a:t> </a:t>
            </a:r>
            <a:r>
              <a:rPr lang="es-ES" sz="2000" dirty="0" err="1"/>
              <a:t>usin</a:t>
            </a:r>
            <a:r>
              <a:rPr lang="es-ES" sz="2000" dirty="0"/>
              <a:t> SAX </a:t>
            </a:r>
            <a:r>
              <a:rPr lang="es-ES" sz="2000" dirty="0" err="1"/>
              <a:t>library</a:t>
            </a:r>
            <a:endParaRPr lang="en-US" sz="2000" dirty="0"/>
          </a:p>
          <a:p>
            <a:pPr marL="342900" indent="-342900" algn="just">
              <a:buFont typeface="Arial" panose="020B0604020202020204" pitchFamily="34" charset="0"/>
              <a:buChar char="•"/>
            </a:pPr>
            <a:r>
              <a:rPr lang="en-US" sz="2000" dirty="0"/>
              <a:t>Describe the outputs.</a:t>
            </a:r>
          </a:p>
          <a:p>
            <a:pPr marL="0" indent="0" algn="just">
              <a:buNone/>
            </a:pPr>
            <a:r>
              <a:rPr lang="en-US" b="1" dirty="0"/>
              <a:t>ALL EXAMPLE #1: </a:t>
            </a:r>
          </a:p>
          <a:p>
            <a:pPr marL="0" indent="0" algn="just">
              <a:buNone/>
            </a:pPr>
            <a:r>
              <a:rPr lang="en-US" dirty="0" err="1"/>
              <a:t>wvl</a:t>
            </a:r>
            <a:r>
              <a:rPr lang="en-US" dirty="0"/>
              <a:t> [1500-1600] step 0.001</a:t>
            </a:r>
          </a:p>
          <a:p>
            <a:pPr marL="0" indent="0" algn="just">
              <a:buNone/>
            </a:pPr>
            <a:r>
              <a:rPr lang="en-US" dirty="0"/>
              <a:t>dL = 0</a:t>
            </a:r>
          </a:p>
          <a:p>
            <a:pPr marL="0" indent="0" algn="just">
              <a:buNone/>
            </a:pPr>
            <a:r>
              <a:rPr lang="en-US" dirty="0"/>
              <a:t>Kin = Kout = 0.5 for all </a:t>
            </a:r>
            <a:r>
              <a:rPr lang="en-US" dirty="0" err="1"/>
              <a:t>wvl</a:t>
            </a:r>
            <a:endParaRPr lang="en-US" dirty="0"/>
          </a:p>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and comment your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6" name="Rectángulo 5">
            <a:extLst>
              <a:ext uri="{FF2B5EF4-FFF2-40B4-BE49-F238E27FC236}">
                <a16:creationId xmlns:a16="http://schemas.microsoft.com/office/drawing/2014/main" id="{82AE4A84-532D-D50D-F368-79FF1C11E97A}"/>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024B9AF7-5B09-CE7C-68D9-8620B8F4F607}"/>
              </a:ext>
            </a:extLst>
          </p:cNvPr>
          <p:cNvSpPr txBox="1"/>
          <p:nvPr/>
        </p:nvSpPr>
        <p:spPr>
          <a:xfrm>
            <a:off x="1690195" y="2494306"/>
            <a:ext cx="3171061" cy="1154162"/>
          </a:xfrm>
          <a:prstGeom prst="rect">
            <a:avLst/>
          </a:prstGeom>
          <a:noFill/>
        </p:spPr>
        <p:txBody>
          <a:bodyPr wrap="none" rtlCol="0">
            <a:spAutoFit/>
          </a:bodyPr>
          <a:lstStyle/>
          <a:p>
            <a:pPr algn="ctr"/>
            <a:r>
              <a:rPr lang="es-ES" dirty="0"/>
              <a:t>MZI transfer </a:t>
            </a:r>
            <a:r>
              <a:rPr lang="es-ES" dirty="0" err="1"/>
              <a:t>functions</a:t>
            </a:r>
            <a:endParaRPr lang="en-US" dirty="0"/>
          </a:p>
          <a:p>
            <a:pPr algn="ctr"/>
            <a:endParaRPr lang="en-US" dirty="0"/>
          </a:p>
          <a:p>
            <a:pPr algn="ctr"/>
            <a:r>
              <a:rPr lang="en-US" dirty="0"/>
              <a:t>Paste plot here</a:t>
            </a:r>
          </a:p>
        </p:txBody>
      </p:sp>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5EA17-A19F-F6ED-E241-A2268CBA45D6}"/>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DA69D816-535A-F5EE-E106-BA148A1B2DF6}"/>
              </a:ext>
            </a:extLst>
          </p:cNvPr>
          <p:cNvSpPr/>
          <p:nvPr/>
        </p:nvSpPr>
        <p:spPr>
          <a:xfrm>
            <a:off x="6476400" y="1418373"/>
            <a:ext cx="5332571"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endParaRPr>
          </a:p>
          <a:p>
            <a:pPr algn="just"/>
            <a:endParaRPr lang="en-US" sz="1600" dirty="0">
              <a:solidFill>
                <a:schemeClr val="tx1"/>
              </a:solidFill>
              <a:latin typeface="Arial" panose="020B0604020202020204" pitchFamily="34" charset="0"/>
              <a:cs typeface="Arial" panose="020B0604020202020204" pitchFamily="34" charset="0"/>
            </a:endParaRPr>
          </a:p>
          <a:p>
            <a:pPr algn="just"/>
            <a:endParaRPr lang="en-US" sz="1600" dirty="0">
              <a:solidFill>
                <a:schemeClr val="tx1"/>
              </a:solidFill>
              <a:latin typeface="Arial" panose="020B0604020202020204" pitchFamily="34" charset="0"/>
              <a:cs typeface="Arial" panose="020B0604020202020204" pitchFamily="34" charset="0"/>
            </a:endParaRPr>
          </a:p>
        </p:txBody>
      </p:sp>
      <p:sp>
        <p:nvSpPr>
          <p:cNvPr id="16" name="object 16">
            <a:extLst>
              <a:ext uri="{FF2B5EF4-FFF2-40B4-BE49-F238E27FC236}">
                <a16:creationId xmlns:a16="http://schemas.microsoft.com/office/drawing/2014/main" id="{D79563BA-3258-C655-D121-E2E23B61FDB5}"/>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#1b – Unbalanced MZI</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08B251FE-4B29-D52F-1DB1-9E5BBD8CFF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3FA43D9-CFE1-F872-DD44-E04BB1B18DFD}"/>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06710B9A-16F8-7A75-9BC8-FE3189874FB8}"/>
              </a:ext>
            </a:extLst>
          </p:cNvPr>
          <p:cNvSpPr>
            <a:spLocks noGrp="1"/>
          </p:cNvSpPr>
          <p:nvPr>
            <p:ph type="ftr" sz="quarter" idx="5"/>
          </p:nvPr>
        </p:nvSpPr>
        <p:spPr/>
        <p:txBody>
          <a:bodyPr/>
          <a:lstStyle/>
          <a:p>
            <a:pPr marL="12700">
              <a:spcBef>
                <a:spcPts val="15"/>
              </a:spcBef>
            </a:pPr>
            <a:r>
              <a:rPr lang="en-US" spc="-5"/>
              <a:t>LAB 3.0. CIRCUITS &amp; COMPACT MODELS</a:t>
            </a:r>
            <a:endParaRPr lang="es-ES" spc="-5" dirty="0"/>
          </a:p>
        </p:txBody>
      </p:sp>
      <p:sp>
        <p:nvSpPr>
          <p:cNvPr id="4" name="Marcador de texto 2">
            <a:extLst>
              <a:ext uri="{FF2B5EF4-FFF2-40B4-BE49-F238E27FC236}">
                <a16:creationId xmlns:a16="http://schemas.microsoft.com/office/drawing/2014/main" id="{0E86A2CB-D14B-54A7-9376-DAE1E4FF0284}"/>
              </a:ext>
            </a:extLst>
          </p:cNvPr>
          <p:cNvSpPr txBox="1">
            <a:spLocks/>
          </p:cNvSpPr>
          <p:nvPr/>
        </p:nvSpPr>
        <p:spPr>
          <a:xfrm>
            <a:off x="6629399" y="1556991"/>
            <a:ext cx="5050811" cy="2895600"/>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s-ES" b="1" dirty="0"/>
              <a:t>HINTS</a:t>
            </a:r>
            <a:r>
              <a:rPr lang="en-US" b="1" dirty="0"/>
              <a:t>: </a:t>
            </a:r>
          </a:p>
          <a:p>
            <a:pPr marL="0" indent="0" algn="just">
              <a:buNone/>
            </a:pPr>
            <a:r>
              <a:rPr lang="en-US" dirty="0" err="1"/>
              <a:t>wvl</a:t>
            </a:r>
            <a:r>
              <a:rPr lang="en-US" dirty="0"/>
              <a:t> [1500-1600] step 0.001</a:t>
            </a:r>
          </a:p>
          <a:p>
            <a:pPr algn="just"/>
            <a:r>
              <a:rPr lang="en-US" dirty="0"/>
              <a:t>dL = </a:t>
            </a:r>
            <a:r>
              <a:rPr lang="en-US" dirty="0">
                <a:latin typeface="Arial" panose="020B0604020202020204" pitchFamily="34" charset="0"/>
                <a:cs typeface="Arial" panose="020B0604020202020204" pitchFamily="34" charset="0"/>
                <a:sym typeface="Wingdings" pitchFamily="2" charset="2"/>
              </a:rPr>
              <a:t>100 µm</a:t>
            </a:r>
            <a:endParaRPr lang="en-US" dirty="0"/>
          </a:p>
          <a:p>
            <a:pPr marL="0" indent="0" algn="just">
              <a:buNone/>
            </a:pPr>
            <a:r>
              <a:rPr lang="en-US" dirty="0"/>
              <a:t>Kin = Kout = 0.5 for all </a:t>
            </a:r>
            <a:r>
              <a:rPr lang="en-US" dirty="0" err="1"/>
              <a:t>wvl</a:t>
            </a:r>
            <a:endParaRPr lang="en-US" dirty="0"/>
          </a:p>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50C41089-061E-9B39-3904-6F31AFE073B8}"/>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describe the transfer function, which is the FSR? How is it related to the length difference among arms?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Show a numeric calculation of the FSR and length difference matching the results in the graph,</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6" name="Rectángulo 5">
            <a:extLst>
              <a:ext uri="{FF2B5EF4-FFF2-40B4-BE49-F238E27FC236}">
                <a16:creationId xmlns:a16="http://schemas.microsoft.com/office/drawing/2014/main" id="{F95B976F-6522-EA3D-1323-5C97E9F88EDF}"/>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8934523B-51D9-2926-EAC0-7EAD4D1D5B75}"/>
              </a:ext>
            </a:extLst>
          </p:cNvPr>
          <p:cNvSpPr txBox="1"/>
          <p:nvPr/>
        </p:nvSpPr>
        <p:spPr>
          <a:xfrm>
            <a:off x="1690195" y="2494306"/>
            <a:ext cx="3171061" cy="1154162"/>
          </a:xfrm>
          <a:prstGeom prst="rect">
            <a:avLst/>
          </a:prstGeom>
          <a:noFill/>
        </p:spPr>
        <p:txBody>
          <a:bodyPr wrap="none" rtlCol="0">
            <a:spAutoFit/>
          </a:bodyPr>
          <a:lstStyle/>
          <a:p>
            <a:pPr algn="ctr"/>
            <a:r>
              <a:rPr lang="es-ES" dirty="0"/>
              <a:t>MZI transfer </a:t>
            </a:r>
            <a:r>
              <a:rPr lang="es-ES" dirty="0" err="1"/>
              <a:t>functions</a:t>
            </a:r>
            <a:endParaRPr lang="en-US" dirty="0"/>
          </a:p>
          <a:p>
            <a:pPr algn="ctr"/>
            <a:endParaRPr lang="en-US" dirty="0"/>
          </a:p>
          <a:p>
            <a:pPr algn="ctr"/>
            <a:r>
              <a:rPr lang="en-US" dirty="0"/>
              <a:t>Paste plot here</a:t>
            </a:r>
          </a:p>
        </p:txBody>
      </p:sp>
    </p:spTree>
    <p:extLst>
      <p:ext uri="{BB962C8B-B14F-4D97-AF65-F5344CB8AC3E}">
        <p14:creationId xmlns:p14="http://schemas.microsoft.com/office/powerpoint/2010/main" val="2395180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5</a:t>
            </a:fld>
            <a:endParaRPr lang="en-US" dirty="0"/>
          </a:p>
        </p:txBody>
      </p:sp>
      <p:sp>
        <p:nvSpPr>
          <p:cNvPr id="8" name="CuadroTexto 7">
            <a:extLst>
              <a:ext uri="{FF2B5EF4-FFF2-40B4-BE49-F238E27FC236}">
                <a16:creationId xmlns:a16="http://schemas.microsoft.com/office/drawing/2014/main" id="{D9601617-351E-AE1A-1F4D-693F2EA59361}"/>
              </a:ext>
            </a:extLst>
          </p:cNvPr>
          <p:cNvSpPr txBox="1"/>
          <p:nvPr/>
        </p:nvSpPr>
        <p:spPr>
          <a:xfrm>
            <a:off x="611029" y="4860335"/>
            <a:ext cx="11199530" cy="1015663"/>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11" name="Rectángulo 10">
            <a:extLst>
              <a:ext uri="{FF2B5EF4-FFF2-40B4-BE49-F238E27FC236}">
                <a16:creationId xmlns:a16="http://schemas.microsoft.com/office/drawing/2014/main" id="{B811A5F9-C0B5-716C-70FB-9472E1BC2CD3}"/>
              </a:ext>
            </a:extLst>
          </p:cNvPr>
          <p:cNvSpPr/>
          <p:nvPr/>
        </p:nvSpPr>
        <p:spPr>
          <a:xfrm>
            <a:off x="611030" y="1418373"/>
            <a:ext cx="3810000"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uadroTexto 11">
            <a:extLst>
              <a:ext uri="{FF2B5EF4-FFF2-40B4-BE49-F238E27FC236}">
                <a16:creationId xmlns:a16="http://schemas.microsoft.com/office/drawing/2014/main" id="{1D17C364-5A66-F740-B152-8B41A2A4EF26}"/>
              </a:ext>
            </a:extLst>
          </p:cNvPr>
          <p:cNvSpPr txBox="1"/>
          <p:nvPr/>
        </p:nvSpPr>
        <p:spPr>
          <a:xfrm>
            <a:off x="5305711" y="2494307"/>
            <a:ext cx="2494977" cy="1015663"/>
          </a:xfrm>
          <a:prstGeom prst="rect">
            <a:avLst/>
          </a:prstGeom>
          <a:noFill/>
        </p:spPr>
        <p:txBody>
          <a:bodyPr wrap="none" rtlCol="0">
            <a:spAutoFit/>
          </a:bodyPr>
          <a:lstStyle/>
          <a:p>
            <a:pPr algn="ctr"/>
            <a:r>
              <a:rPr lang="es-ES" sz="2000" dirty="0"/>
              <a:t>MZI transfer </a:t>
            </a:r>
            <a:r>
              <a:rPr lang="es-ES" sz="2000" dirty="0" err="1"/>
              <a:t>functions</a:t>
            </a:r>
            <a:endParaRPr lang="en-US" sz="2000" dirty="0"/>
          </a:p>
          <a:p>
            <a:pPr algn="ctr"/>
            <a:endParaRPr lang="en-US" sz="2000" dirty="0"/>
          </a:p>
          <a:p>
            <a:pPr algn="ctr"/>
            <a:r>
              <a:rPr lang="en-US" sz="2000" dirty="0"/>
              <a:t>Paste plot here</a:t>
            </a:r>
          </a:p>
        </p:txBody>
      </p:sp>
      <p:sp>
        <p:nvSpPr>
          <p:cNvPr id="3" name="Rectángulo 2">
            <a:extLst>
              <a:ext uri="{FF2B5EF4-FFF2-40B4-BE49-F238E27FC236}">
                <a16:creationId xmlns:a16="http://schemas.microsoft.com/office/drawing/2014/main" id="{5FB43DF1-4048-35BF-BD58-4BF2A341D2EF}"/>
              </a:ext>
            </a:extLst>
          </p:cNvPr>
          <p:cNvSpPr/>
          <p:nvPr/>
        </p:nvSpPr>
        <p:spPr>
          <a:xfrm>
            <a:off x="8610601" y="1418373"/>
            <a:ext cx="3199959"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b="1" dirty="0">
                <a:solidFill>
                  <a:schemeClr val="tx1"/>
                </a:solidFill>
                <a:latin typeface="Arial" panose="020B0604020202020204" pitchFamily="34" charset="0"/>
                <a:cs typeface="Arial" panose="020B0604020202020204" pitchFamily="34" charset="0"/>
              </a:rPr>
              <a:t>Hints:</a:t>
            </a:r>
            <a:endParaRPr lang="en-US" dirty="0">
              <a:solidFill>
                <a:schemeClr val="tx1"/>
              </a:solidFill>
              <a:latin typeface="Arial" panose="020B0604020202020204" pitchFamily="34" charset="0"/>
              <a:cs typeface="Arial" panose="020B0604020202020204" pitchFamily="34" charset="0"/>
            </a:endParaRPr>
          </a:p>
          <a:p>
            <a:pPr algn="just"/>
            <a:r>
              <a:rPr lang="en-US" dirty="0" err="1">
                <a:solidFill>
                  <a:schemeClr val="tx1"/>
                </a:solidFill>
                <a:latin typeface="Arial" panose="020B0604020202020204" pitchFamily="34" charset="0"/>
                <a:cs typeface="Arial" panose="020B0604020202020204" pitchFamily="34" charset="0"/>
                <a:sym typeface="Wingdings" pitchFamily="2" charset="2"/>
              </a:rPr>
              <a:t>wvl</a:t>
            </a:r>
            <a:r>
              <a:rPr lang="en-US" dirty="0">
                <a:solidFill>
                  <a:schemeClr val="tx1"/>
                </a:solidFill>
                <a:latin typeface="Arial" panose="020B0604020202020204" pitchFamily="34" charset="0"/>
                <a:cs typeface="Arial" panose="020B0604020202020204" pitchFamily="34" charset="0"/>
                <a:sym typeface="Wingdings" pitchFamily="2" charset="2"/>
              </a:rPr>
              <a:t> [1500-1600] step 0.001</a:t>
            </a:r>
          </a:p>
          <a:p>
            <a:pPr algn="just"/>
            <a:r>
              <a:rPr lang="en-US" dirty="0">
                <a:solidFill>
                  <a:schemeClr val="tx1"/>
                </a:solidFill>
                <a:latin typeface="Arial" panose="020B0604020202020204" pitchFamily="34" charset="0"/>
                <a:cs typeface="Arial" panose="020B0604020202020204" pitchFamily="34" charset="0"/>
                <a:sym typeface="Wingdings" pitchFamily="2" charset="2"/>
              </a:rPr>
              <a:t>dL = ? µm </a:t>
            </a:r>
            <a:r>
              <a:rPr lang="en-US" b="1" dirty="0">
                <a:solidFill>
                  <a:schemeClr val="tx1"/>
                </a:solidFill>
                <a:latin typeface="Arial" panose="020B0604020202020204" pitchFamily="34" charset="0"/>
                <a:cs typeface="Arial" panose="020B0604020202020204" pitchFamily="34" charset="0"/>
                <a:sym typeface="Wingdings" pitchFamily="2" charset="2"/>
              </a:rPr>
              <a:t>calculate for FSR = 2 nm </a:t>
            </a:r>
          </a:p>
          <a:p>
            <a:pPr algn="just"/>
            <a:r>
              <a:rPr lang="en-US" dirty="0">
                <a:solidFill>
                  <a:schemeClr val="tx1"/>
                </a:solidFill>
                <a:latin typeface="Arial" panose="020B0604020202020204" pitchFamily="34" charset="0"/>
                <a:cs typeface="Arial" panose="020B0604020202020204" pitchFamily="34" charset="0"/>
                <a:sym typeface="Wingdings" pitchFamily="2" charset="2"/>
              </a:rPr>
              <a:t>Ka = </a:t>
            </a:r>
            <a:r>
              <a:rPr lang="en-US" dirty="0" err="1">
                <a:solidFill>
                  <a:schemeClr val="tx1"/>
                </a:solidFill>
                <a:latin typeface="Arial" panose="020B0604020202020204" pitchFamily="34" charset="0"/>
                <a:cs typeface="Arial" panose="020B0604020202020204" pitchFamily="34" charset="0"/>
                <a:sym typeface="Wingdings" pitchFamily="2" charset="2"/>
              </a:rPr>
              <a:t>Kb</a:t>
            </a:r>
            <a:r>
              <a:rPr lang="en-US" dirty="0">
                <a:solidFill>
                  <a:schemeClr val="tx1"/>
                </a:solidFill>
                <a:latin typeface="Arial" panose="020B0604020202020204" pitchFamily="34" charset="0"/>
                <a:cs typeface="Arial" panose="020B0604020202020204" pitchFamily="34" charset="0"/>
                <a:sym typeface="Wingdings" pitchFamily="2" charset="2"/>
              </a:rPr>
              <a:t> = 0.5 for all </a:t>
            </a:r>
            <a:r>
              <a:rPr lang="en-US" dirty="0" err="1">
                <a:solidFill>
                  <a:schemeClr val="tx1"/>
                </a:solidFill>
                <a:latin typeface="Arial" panose="020B0604020202020204" pitchFamily="34" charset="0"/>
                <a:cs typeface="Arial" panose="020B0604020202020204" pitchFamily="34" charset="0"/>
                <a:sym typeface="Wingdings" pitchFamily="2" charset="2"/>
              </a:rPr>
              <a:t>wvl</a:t>
            </a:r>
            <a:endParaRPr lang="en-US"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200" dirty="0">
              <a:solidFill>
                <a:schemeClr val="tx1"/>
              </a:solidFill>
              <a:latin typeface="Arial" panose="020B0604020202020204" pitchFamily="34" charset="0"/>
              <a:cs typeface="Arial" panose="020B0604020202020204" pitchFamily="34" charset="0"/>
            </a:endParaRPr>
          </a:p>
          <a:p>
            <a:pPr algn="just"/>
            <a:endParaRPr lang="en-US" sz="1200" dirty="0">
              <a:solidFill>
                <a:schemeClr val="tx1"/>
              </a:solidFill>
              <a:latin typeface="Arial" panose="020B0604020202020204" pitchFamily="34" charset="0"/>
              <a:cs typeface="Arial" panose="020B0604020202020204" pitchFamily="34" charset="0"/>
            </a:endParaRPr>
          </a:p>
        </p:txBody>
      </p:sp>
      <p:sp>
        <p:nvSpPr>
          <p:cNvPr id="14" name="Rectángulo 13">
            <a:extLst>
              <a:ext uri="{FF2B5EF4-FFF2-40B4-BE49-F238E27FC236}">
                <a16:creationId xmlns:a16="http://schemas.microsoft.com/office/drawing/2014/main" id="{6AA857E7-5C39-DCE1-10B5-40300FCF4B26}"/>
              </a:ext>
            </a:extLst>
          </p:cNvPr>
          <p:cNvSpPr/>
          <p:nvPr/>
        </p:nvSpPr>
        <p:spPr>
          <a:xfrm>
            <a:off x="4648200" y="1418373"/>
            <a:ext cx="3810000"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uadroTexto 14">
            <a:extLst>
              <a:ext uri="{FF2B5EF4-FFF2-40B4-BE49-F238E27FC236}">
                <a16:creationId xmlns:a16="http://schemas.microsoft.com/office/drawing/2014/main" id="{54CF28B4-1346-F41D-2CD8-EA104ABBFB98}"/>
              </a:ext>
            </a:extLst>
          </p:cNvPr>
          <p:cNvSpPr txBox="1"/>
          <p:nvPr/>
        </p:nvSpPr>
        <p:spPr>
          <a:xfrm>
            <a:off x="1017546" y="2478160"/>
            <a:ext cx="2996974" cy="1015663"/>
          </a:xfrm>
          <a:prstGeom prst="rect">
            <a:avLst/>
          </a:prstGeom>
          <a:noFill/>
        </p:spPr>
        <p:txBody>
          <a:bodyPr wrap="none" rtlCol="0">
            <a:spAutoFit/>
          </a:bodyPr>
          <a:lstStyle/>
          <a:p>
            <a:pPr algn="ctr"/>
            <a:r>
              <a:rPr lang="en-US" sz="2000" dirty="0"/>
              <a:t>Your design justification</a:t>
            </a:r>
          </a:p>
          <a:p>
            <a:pPr algn="ctr"/>
            <a:endParaRPr lang="en-US" sz="2000" dirty="0"/>
          </a:p>
          <a:p>
            <a:pPr algn="ctr"/>
            <a:r>
              <a:rPr lang="en-US" sz="2000" dirty="0"/>
              <a:t>Write equations / numbers</a:t>
            </a:r>
          </a:p>
        </p:txBody>
      </p:sp>
      <p:pic>
        <p:nvPicPr>
          <p:cNvPr id="10" name="Gráfico 9">
            <a:extLst>
              <a:ext uri="{FF2B5EF4-FFF2-40B4-BE49-F238E27FC236}">
                <a16:creationId xmlns:a16="http://schemas.microsoft.com/office/drawing/2014/main" id="{C582D9ED-A2CE-6C08-D473-4C1FC636E8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98DA9316-CFD5-58C0-735F-237403D53172}"/>
              </a:ext>
            </a:extLst>
          </p:cNvPr>
          <p:cNvSpPr txBox="1">
            <a:spLocks/>
          </p:cNvSpPr>
          <p:nvPr/>
        </p:nvSpPr>
        <p:spPr>
          <a:xfrm>
            <a:off x="685800" y="408883"/>
            <a:ext cx="10994410" cy="1025922"/>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#2 – MZI Design</a:t>
            </a:r>
          </a:p>
          <a:p>
            <a:pPr marL="12700">
              <a:spcBef>
                <a:spcPts val="100"/>
              </a:spcBef>
            </a:pPr>
            <a:r>
              <a:rPr lang="en-US" b="0" kern="0" spc="-5" dirty="0">
                <a:latin typeface="+mj-lt"/>
                <a:cs typeface="Lucida Sans"/>
              </a:rPr>
              <a:t>Design a MZI with FSR = 10 nm at 1550 nm</a:t>
            </a:r>
            <a:br>
              <a:rPr lang="en-US" b="0" kern="0" spc="-5" dirty="0">
                <a:latin typeface="+mj-lt"/>
                <a:cs typeface="Lucida Sans"/>
              </a:rPr>
            </a:br>
            <a:endParaRPr lang="en-US" b="0" kern="0" dirty="0">
              <a:latin typeface="+mj-lt"/>
              <a:cs typeface="Lucida Sans"/>
            </a:endParaRPr>
          </a:p>
        </p:txBody>
      </p:sp>
    </p:spTree>
    <p:extLst>
      <p:ext uri="{BB962C8B-B14F-4D97-AF65-F5344CB8AC3E}">
        <p14:creationId xmlns:p14="http://schemas.microsoft.com/office/powerpoint/2010/main" val="1222654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636B-7BF0-5143-57E9-673FF1B33E8E}"/>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D79F9CCB-631D-A124-3694-9DBF91E01CAA}"/>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DED76083-7F21-5E97-9AC1-DEEB9C8B23CA}"/>
              </a:ext>
            </a:extLst>
          </p:cNvPr>
          <p:cNvSpPr>
            <a:spLocks noGrp="1"/>
          </p:cNvSpPr>
          <p:nvPr>
            <p:ph type="sldNum" sz="quarter" idx="7"/>
          </p:nvPr>
        </p:nvSpPr>
        <p:spPr/>
        <p:txBody>
          <a:bodyPr/>
          <a:lstStyle/>
          <a:p>
            <a:fld id="{C2F52289-4012-4053-9770-FE82CEB9514F}" type="slidenum">
              <a:rPr lang="en-US" smtClean="0"/>
              <a:pPr/>
              <a:t>6</a:t>
            </a:fld>
            <a:endParaRPr lang="en-US" dirty="0"/>
          </a:p>
        </p:txBody>
      </p:sp>
      <p:pic>
        <p:nvPicPr>
          <p:cNvPr id="10" name="Gráfico 9">
            <a:extLst>
              <a:ext uri="{FF2B5EF4-FFF2-40B4-BE49-F238E27FC236}">
                <a16:creationId xmlns:a16="http://schemas.microsoft.com/office/drawing/2014/main" id="{6A4FE9E0-92EE-4367-CEE1-FB072709D7E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1E286371-F443-FD5C-BF57-FB23A8D7F4F7}"/>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#3 – Delay imbalance with loss</a:t>
            </a:r>
          </a:p>
          <a:p>
            <a:pPr marL="12700">
              <a:spcBef>
                <a:spcPts val="100"/>
              </a:spcBef>
            </a:pPr>
            <a:r>
              <a:rPr lang="en-US" b="0" kern="0" spc="-5" dirty="0">
                <a:latin typeface="+mj-lt"/>
                <a:cs typeface="Lucida Sans"/>
              </a:rPr>
              <a:t>Fringe visibility</a:t>
            </a:r>
            <a:endParaRPr lang="en-US" b="0" kern="0" dirty="0">
              <a:latin typeface="+mj-lt"/>
              <a:cs typeface="Lucida Sans"/>
            </a:endParaRPr>
          </a:p>
        </p:txBody>
      </p:sp>
      <p:sp>
        <p:nvSpPr>
          <p:cNvPr id="2" name="CuadroTexto 1">
            <a:extLst>
              <a:ext uri="{FF2B5EF4-FFF2-40B4-BE49-F238E27FC236}">
                <a16:creationId xmlns:a16="http://schemas.microsoft.com/office/drawing/2014/main" id="{F1C12A10-91CE-B5DA-9D77-267ED06AEAC2}"/>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describe the transfer function, is there any interference pattern in case 1? Is there any interference pattern in case 2? Explain the difference between both cases. Compare the Extinction Ratio of both variations. </a:t>
            </a:r>
          </a:p>
          <a:p>
            <a:pPr algn="just"/>
            <a:r>
              <a:rPr lang="en-US" sz="1200" dirty="0">
                <a:latin typeface="Arial" panose="020B0604020202020204" pitchFamily="34" charset="0"/>
                <a:cs typeface="Arial" panose="020B0604020202020204" pitchFamily="34" charset="0"/>
              </a:rPr>
              <a:t>Extra: What coupling coefficient will you select for the input coupler if you want to match the losses of the longer arm? Simulate and extract the ER.</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FDBAE930-4EE5-671B-4DE7-6BC60C48E7C0}"/>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ángulo 6">
            <a:extLst>
              <a:ext uri="{FF2B5EF4-FFF2-40B4-BE49-F238E27FC236}">
                <a16:creationId xmlns:a16="http://schemas.microsoft.com/office/drawing/2014/main" id="{A6CCE634-FF91-FD5F-7C1D-4329E9DA2469}"/>
              </a:ext>
            </a:extLst>
          </p:cNvPr>
          <p:cNvSpPr/>
          <p:nvPr/>
        </p:nvSpPr>
        <p:spPr>
          <a:xfrm>
            <a:off x="6476400" y="1418373"/>
            <a:ext cx="5332571"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sz="1600" b="1" dirty="0">
                <a:solidFill>
                  <a:schemeClr val="tx1"/>
                </a:solidFill>
                <a:latin typeface="Arial" panose="020B0604020202020204" pitchFamily="34" charset="0"/>
                <a:cs typeface="Arial" panose="020B0604020202020204" pitchFamily="34" charset="0"/>
              </a:rPr>
              <a:t>Hints:</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wvl</a:t>
            </a:r>
            <a:r>
              <a:rPr lang="en-US" sz="1600" dirty="0">
                <a:solidFill>
                  <a:schemeClr val="tx1"/>
                </a:solidFill>
                <a:latin typeface="Arial" panose="020B0604020202020204" pitchFamily="34" charset="0"/>
                <a:cs typeface="Arial" panose="020B0604020202020204" pitchFamily="34" charset="0"/>
                <a:sym typeface="Wingdings" pitchFamily="2" charset="2"/>
              </a:rPr>
              <a:t> [1550-1550.5] step 0.0000005</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Silicon waveguide model:</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n_eff</a:t>
            </a:r>
            <a:r>
              <a:rPr lang="en-US" sz="1600" dirty="0">
                <a:solidFill>
                  <a:schemeClr val="tx1"/>
                </a:solidFill>
                <a:latin typeface="Arial" panose="020B0604020202020204" pitchFamily="34" charset="0"/>
                <a:cs typeface="Arial" panose="020B0604020202020204" pitchFamily="34" charset="0"/>
                <a:sym typeface="Wingdings" pitchFamily="2" charset="2"/>
              </a:rPr>
              <a:t> = 2.38, </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n_g</a:t>
            </a:r>
            <a:r>
              <a:rPr lang="en-US" sz="1600" dirty="0">
                <a:solidFill>
                  <a:schemeClr val="tx1"/>
                </a:solidFill>
                <a:latin typeface="Arial" panose="020B0604020202020204" pitchFamily="34" charset="0"/>
                <a:cs typeface="Arial" panose="020B0604020202020204" pitchFamily="34" charset="0"/>
                <a:sym typeface="Wingdings" pitchFamily="2" charset="2"/>
              </a:rPr>
              <a:t> = 4.25, </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D=0,</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L_base</a:t>
            </a:r>
            <a:r>
              <a:rPr lang="en-US" sz="1600" dirty="0">
                <a:solidFill>
                  <a:schemeClr val="tx1"/>
                </a:solidFill>
                <a:latin typeface="Arial" panose="020B0604020202020204" pitchFamily="34" charset="0"/>
                <a:cs typeface="Arial" panose="020B0604020202020204" pitchFamily="34" charset="0"/>
                <a:sym typeface="Wingdings" pitchFamily="2" charset="2"/>
              </a:rPr>
              <a:t>=1000</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dL = </a:t>
            </a:r>
            <a:r>
              <a:rPr lang="en-US" sz="1600" dirty="0" err="1">
                <a:solidFill>
                  <a:schemeClr val="tx1"/>
                </a:solidFill>
                <a:latin typeface="Arial" panose="020B0604020202020204" pitchFamily="34" charset="0"/>
                <a:cs typeface="Arial" panose="020B0604020202020204" pitchFamily="34" charset="0"/>
                <a:sym typeface="Wingdings" pitchFamily="2" charset="2"/>
              </a:rPr>
              <a:t>L_base</a:t>
            </a:r>
            <a:r>
              <a:rPr lang="en-US" sz="1600" dirty="0">
                <a:solidFill>
                  <a:schemeClr val="tx1"/>
                </a:solidFill>
                <a:latin typeface="Arial" panose="020B0604020202020204" pitchFamily="34" charset="0"/>
                <a:cs typeface="Arial" panose="020B0604020202020204" pitchFamily="34" charset="0"/>
                <a:sym typeface="Wingdings" pitchFamily="2" charset="2"/>
              </a:rPr>
              <a:t> + 55960.0840224255;</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loss = 4 dB / cm</a:t>
            </a:r>
          </a:p>
          <a:p>
            <a:pPr algn="just"/>
            <a:r>
              <a:rPr lang="en-US" sz="1600" b="1" dirty="0">
                <a:solidFill>
                  <a:schemeClr val="tx1"/>
                </a:solidFill>
                <a:latin typeface="Arial" panose="020B0604020202020204" pitchFamily="34" charset="0"/>
                <a:cs typeface="Arial" panose="020B0604020202020204" pitchFamily="34" charset="0"/>
                <a:sym typeface="Wingdings" pitchFamily="2" charset="2"/>
              </a:rPr>
              <a:t>Case 1</a:t>
            </a:r>
            <a:r>
              <a:rPr lang="en-US" sz="1600" dirty="0">
                <a:solidFill>
                  <a:schemeClr val="tx1"/>
                </a:solidFill>
                <a:latin typeface="Arial" panose="020B0604020202020204" pitchFamily="34" charset="0"/>
                <a:cs typeface="Arial" panose="020B0604020202020204" pitchFamily="34" charset="0"/>
                <a:sym typeface="Wingdings" pitchFamily="2" charset="2"/>
              </a:rPr>
              <a:t>. Simulate for Ka = </a:t>
            </a:r>
            <a:r>
              <a:rPr lang="en-US" sz="1600" dirty="0" err="1">
                <a:solidFill>
                  <a:schemeClr val="tx1"/>
                </a:solidFill>
                <a:latin typeface="Arial" panose="020B0604020202020204" pitchFamily="34" charset="0"/>
                <a:cs typeface="Arial" panose="020B0604020202020204" pitchFamily="34" charset="0"/>
                <a:sym typeface="Wingdings" pitchFamily="2" charset="2"/>
              </a:rPr>
              <a:t>Kb</a:t>
            </a:r>
            <a:r>
              <a:rPr lang="en-US" sz="1600" dirty="0">
                <a:solidFill>
                  <a:schemeClr val="tx1"/>
                </a:solidFill>
                <a:latin typeface="Arial" panose="020B0604020202020204" pitchFamily="34" charset="0"/>
                <a:cs typeface="Arial" panose="020B0604020202020204" pitchFamily="34" charset="0"/>
                <a:sym typeface="Wingdings" pitchFamily="2" charset="2"/>
              </a:rPr>
              <a:t> = 0.5 for all </a:t>
            </a:r>
            <a:r>
              <a:rPr lang="en-US" sz="1600" dirty="0" err="1">
                <a:solidFill>
                  <a:schemeClr val="tx1"/>
                </a:solidFill>
                <a:latin typeface="Arial" panose="020B0604020202020204" pitchFamily="34" charset="0"/>
                <a:cs typeface="Arial" panose="020B0604020202020204" pitchFamily="34" charset="0"/>
                <a:sym typeface="Wingdings" pitchFamily="2" charset="2"/>
              </a:rPr>
              <a:t>wvl</a:t>
            </a:r>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r>
              <a:rPr lang="en-US" sz="1600" b="1" dirty="0">
                <a:solidFill>
                  <a:schemeClr val="tx1"/>
                </a:solidFill>
                <a:latin typeface="Arial" panose="020B0604020202020204" pitchFamily="34" charset="0"/>
                <a:cs typeface="Arial" panose="020B0604020202020204" pitchFamily="34" charset="0"/>
                <a:sym typeface="Wingdings" pitchFamily="2" charset="2"/>
              </a:rPr>
              <a:t>Case 2</a:t>
            </a:r>
            <a:r>
              <a:rPr lang="en-US" sz="1600" dirty="0">
                <a:solidFill>
                  <a:schemeClr val="tx1"/>
                </a:solidFill>
                <a:latin typeface="Arial" panose="020B0604020202020204" pitchFamily="34" charset="0"/>
                <a:cs typeface="Arial" panose="020B0604020202020204" pitchFamily="34" charset="0"/>
                <a:sym typeface="Wingdings" pitchFamily="2" charset="2"/>
              </a:rPr>
              <a:t>. Simulate for Ka=0.1 for all </a:t>
            </a:r>
            <a:r>
              <a:rPr lang="en-US" sz="1600" dirty="0" err="1">
                <a:solidFill>
                  <a:schemeClr val="tx1"/>
                </a:solidFill>
                <a:latin typeface="Arial" panose="020B0604020202020204" pitchFamily="34" charset="0"/>
                <a:cs typeface="Arial" panose="020B0604020202020204" pitchFamily="34" charset="0"/>
                <a:sym typeface="Wingdings" pitchFamily="2" charset="2"/>
              </a:rPr>
              <a:t>wvl</a:t>
            </a:r>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Kb</a:t>
            </a:r>
            <a:r>
              <a:rPr lang="en-US" sz="1600" dirty="0">
                <a:solidFill>
                  <a:schemeClr val="tx1"/>
                </a:solidFill>
                <a:latin typeface="Arial" panose="020B0604020202020204" pitchFamily="34" charset="0"/>
                <a:cs typeface="Arial" panose="020B0604020202020204" pitchFamily="34" charset="0"/>
                <a:sym typeface="Wingdings" pitchFamily="2" charset="2"/>
              </a:rPr>
              <a:t>=0.5 for all </a:t>
            </a:r>
            <a:r>
              <a:rPr lang="en-US" sz="1600" dirty="0" err="1">
                <a:solidFill>
                  <a:schemeClr val="tx1"/>
                </a:solidFill>
                <a:latin typeface="Arial" panose="020B0604020202020204" pitchFamily="34" charset="0"/>
                <a:cs typeface="Arial" panose="020B0604020202020204" pitchFamily="34" charset="0"/>
                <a:sym typeface="Wingdings" pitchFamily="2" charset="2"/>
              </a:rPr>
              <a:t>wvl</a:t>
            </a:r>
            <a:endParaRPr lang="en-US" sz="1600" dirty="0">
              <a:solidFill>
                <a:schemeClr val="tx1"/>
              </a:solidFill>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EF71FD03-8141-88A1-69BA-49588EB48896}"/>
              </a:ext>
            </a:extLst>
          </p:cNvPr>
          <p:cNvSpPr txBox="1"/>
          <p:nvPr/>
        </p:nvSpPr>
        <p:spPr>
          <a:xfrm>
            <a:off x="1690195" y="2494306"/>
            <a:ext cx="3171061" cy="1154162"/>
          </a:xfrm>
          <a:prstGeom prst="rect">
            <a:avLst/>
          </a:prstGeom>
          <a:noFill/>
        </p:spPr>
        <p:txBody>
          <a:bodyPr wrap="none" rtlCol="0">
            <a:spAutoFit/>
          </a:bodyPr>
          <a:lstStyle/>
          <a:p>
            <a:pPr algn="ctr"/>
            <a:r>
              <a:rPr lang="es-ES" dirty="0"/>
              <a:t>MZI transfer </a:t>
            </a:r>
            <a:r>
              <a:rPr lang="es-ES" dirty="0" err="1"/>
              <a:t>functions</a:t>
            </a:r>
            <a:endParaRPr lang="en-US" dirty="0"/>
          </a:p>
          <a:p>
            <a:pPr algn="ctr"/>
            <a:endParaRPr lang="en-US" dirty="0"/>
          </a:p>
          <a:p>
            <a:pPr algn="ctr"/>
            <a:r>
              <a:rPr lang="en-US" dirty="0"/>
              <a:t>Paste plot here</a:t>
            </a:r>
          </a:p>
        </p:txBody>
      </p:sp>
    </p:spTree>
    <p:extLst>
      <p:ext uri="{BB962C8B-B14F-4D97-AF65-F5344CB8AC3E}">
        <p14:creationId xmlns:p14="http://schemas.microsoft.com/office/powerpoint/2010/main" val="14757106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7</a:t>
            </a:fld>
            <a:endParaRPr lang="en-US" dirty="0"/>
          </a:p>
        </p:txBody>
      </p:sp>
      <p:sp>
        <p:nvSpPr>
          <p:cNvPr id="8" name="CuadroTexto 7">
            <a:extLst>
              <a:ext uri="{FF2B5EF4-FFF2-40B4-BE49-F238E27FC236}">
                <a16:creationId xmlns:a16="http://schemas.microsoft.com/office/drawing/2014/main" id="{D9601617-351E-AE1A-1F4D-693F2EA59361}"/>
              </a:ext>
            </a:extLst>
          </p:cNvPr>
          <p:cNvSpPr txBox="1"/>
          <p:nvPr/>
        </p:nvSpPr>
        <p:spPr>
          <a:xfrm>
            <a:off x="611029" y="4860335"/>
            <a:ext cx="11199530"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describer the transfer functions. which is the FSR? How is it related to the ring perimeter?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Show a numeric calculation of the FSR and length difference matching the results in the graph,</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11" name="Rectángulo 10">
            <a:extLst>
              <a:ext uri="{FF2B5EF4-FFF2-40B4-BE49-F238E27FC236}">
                <a16:creationId xmlns:a16="http://schemas.microsoft.com/office/drawing/2014/main" id="{B811A5F9-C0B5-716C-70FB-9472E1BC2CD3}"/>
              </a:ext>
            </a:extLst>
          </p:cNvPr>
          <p:cNvSpPr/>
          <p:nvPr/>
        </p:nvSpPr>
        <p:spPr>
          <a:xfrm>
            <a:off x="611030" y="1418373"/>
            <a:ext cx="3810000"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uadroTexto 11">
            <a:extLst>
              <a:ext uri="{FF2B5EF4-FFF2-40B4-BE49-F238E27FC236}">
                <a16:creationId xmlns:a16="http://schemas.microsoft.com/office/drawing/2014/main" id="{1D17C364-5A66-F740-B152-8B41A2A4EF26}"/>
              </a:ext>
            </a:extLst>
          </p:cNvPr>
          <p:cNvSpPr txBox="1"/>
          <p:nvPr/>
        </p:nvSpPr>
        <p:spPr>
          <a:xfrm>
            <a:off x="5536543" y="2494307"/>
            <a:ext cx="2033313" cy="1323439"/>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err="1"/>
              <a:t>Logaritmic</a:t>
            </a:r>
            <a:r>
              <a:rPr lang="es-ES" sz="2000" dirty="0"/>
              <a:t> </a:t>
            </a:r>
            <a:r>
              <a:rPr lang="es-ES" sz="2000" dirty="0" err="1"/>
              <a:t>units</a:t>
            </a:r>
            <a:endParaRPr lang="en-US" sz="2000" dirty="0"/>
          </a:p>
        </p:txBody>
      </p:sp>
      <p:sp>
        <p:nvSpPr>
          <p:cNvPr id="3" name="Rectángulo 2">
            <a:extLst>
              <a:ext uri="{FF2B5EF4-FFF2-40B4-BE49-F238E27FC236}">
                <a16:creationId xmlns:a16="http://schemas.microsoft.com/office/drawing/2014/main" id="{5FB43DF1-4048-35BF-BD58-4BF2A341D2EF}"/>
              </a:ext>
            </a:extLst>
          </p:cNvPr>
          <p:cNvSpPr/>
          <p:nvPr/>
        </p:nvSpPr>
        <p:spPr>
          <a:xfrm>
            <a:off x="8610601" y="1418373"/>
            <a:ext cx="3199959"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sz="1200" b="1" dirty="0">
                <a:solidFill>
                  <a:schemeClr val="tx1"/>
                </a:solidFill>
                <a:latin typeface="Arial" panose="020B0604020202020204" pitchFamily="34" charset="0"/>
                <a:cs typeface="Arial" panose="020B0604020202020204" pitchFamily="34" charset="0"/>
              </a:rPr>
              <a:t>Hints:</a:t>
            </a:r>
          </a:p>
          <a:p>
            <a:pPr algn="just"/>
            <a:endParaRPr lang="en-US" sz="1200" b="1" dirty="0">
              <a:solidFill>
                <a:schemeClr val="tx1"/>
              </a:solidFill>
              <a:latin typeface="Arial" panose="020B0604020202020204" pitchFamily="34" charset="0"/>
              <a:cs typeface="Arial" panose="020B0604020202020204" pitchFamily="34" charset="0"/>
            </a:endParaRPr>
          </a:p>
          <a:p>
            <a:pPr algn="just"/>
            <a:r>
              <a:rPr lang="en-US" sz="1200" dirty="0">
                <a:solidFill>
                  <a:schemeClr val="tx1"/>
                </a:solidFill>
                <a:latin typeface="Arial" panose="020B0604020202020204" pitchFamily="34" charset="0"/>
                <a:cs typeface="Arial" panose="020B0604020202020204" pitchFamily="34" charset="0"/>
              </a:rPr>
              <a:t>None </a:t>
            </a:r>
            <a:r>
              <a:rPr lang="en-US" sz="1200" dirty="0">
                <a:solidFill>
                  <a:schemeClr val="tx1"/>
                </a:solidFill>
                <a:latin typeface="Arial" panose="020B0604020202020204" pitchFamily="34" charset="0"/>
                <a:cs typeface="Arial" panose="020B0604020202020204" pitchFamily="34" charset="0"/>
                <a:sym typeface="Wingdings" pitchFamily="2" charset="2"/>
              </a:rPr>
              <a:t> </a:t>
            </a:r>
            <a:endParaRPr lang="en-US" sz="1200" dirty="0">
              <a:solidFill>
                <a:schemeClr val="tx1"/>
              </a:solidFill>
              <a:latin typeface="Arial" panose="020B0604020202020204" pitchFamily="34" charset="0"/>
              <a:cs typeface="Arial" panose="020B0604020202020204" pitchFamily="34" charset="0"/>
            </a:endParaRPr>
          </a:p>
          <a:p>
            <a:pPr algn="just"/>
            <a:endParaRPr lang="en-US" sz="1200" dirty="0">
              <a:solidFill>
                <a:schemeClr val="tx1"/>
              </a:solidFill>
              <a:latin typeface="Arial" panose="020B0604020202020204" pitchFamily="34" charset="0"/>
              <a:cs typeface="Arial" panose="020B0604020202020204" pitchFamily="34" charset="0"/>
            </a:endParaRPr>
          </a:p>
          <a:p>
            <a:pPr algn="just"/>
            <a:endParaRPr lang="en-US" sz="1200" dirty="0">
              <a:solidFill>
                <a:schemeClr val="tx1"/>
              </a:solidFill>
              <a:latin typeface="Arial" panose="020B0604020202020204" pitchFamily="34" charset="0"/>
              <a:cs typeface="Arial" panose="020B0604020202020204" pitchFamily="34" charset="0"/>
            </a:endParaRPr>
          </a:p>
        </p:txBody>
      </p:sp>
      <p:sp>
        <p:nvSpPr>
          <p:cNvPr id="14" name="Rectángulo 13">
            <a:extLst>
              <a:ext uri="{FF2B5EF4-FFF2-40B4-BE49-F238E27FC236}">
                <a16:creationId xmlns:a16="http://schemas.microsoft.com/office/drawing/2014/main" id="{6AA857E7-5C39-DCE1-10B5-40300FCF4B26}"/>
              </a:ext>
            </a:extLst>
          </p:cNvPr>
          <p:cNvSpPr/>
          <p:nvPr/>
        </p:nvSpPr>
        <p:spPr>
          <a:xfrm>
            <a:off x="4648200" y="1418373"/>
            <a:ext cx="3810000"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uadroTexto 14">
            <a:extLst>
              <a:ext uri="{FF2B5EF4-FFF2-40B4-BE49-F238E27FC236}">
                <a16:creationId xmlns:a16="http://schemas.microsoft.com/office/drawing/2014/main" id="{54CF28B4-1346-F41D-2CD8-EA104ABBFB98}"/>
              </a:ext>
            </a:extLst>
          </p:cNvPr>
          <p:cNvSpPr txBox="1"/>
          <p:nvPr/>
        </p:nvSpPr>
        <p:spPr>
          <a:xfrm>
            <a:off x="1499379" y="2478160"/>
            <a:ext cx="2033313" cy="1323439"/>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a:t>Linear </a:t>
            </a:r>
            <a:r>
              <a:rPr lang="es-ES" sz="2000" dirty="0" err="1"/>
              <a:t>units</a:t>
            </a:r>
            <a:endParaRPr lang="en-US" sz="2000" dirty="0"/>
          </a:p>
        </p:txBody>
      </p:sp>
      <p:pic>
        <p:nvPicPr>
          <p:cNvPr id="9" name="Gráfico 8">
            <a:extLst>
              <a:ext uri="{FF2B5EF4-FFF2-40B4-BE49-F238E27FC236}">
                <a16:creationId xmlns:a16="http://schemas.microsoft.com/office/drawing/2014/main" id="{83C716FC-7070-6DA5-E116-195D4CD9BDB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0" name="object 16">
            <a:extLst>
              <a:ext uri="{FF2B5EF4-FFF2-40B4-BE49-F238E27FC236}">
                <a16:creationId xmlns:a16="http://schemas.microsoft.com/office/drawing/2014/main" id="{C319E249-48A9-70AD-7ACE-23CF9ABF6137}"/>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#4 – Ring Resonator</a:t>
            </a:r>
          </a:p>
          <a:p>
            <a:pPr marL="12700">
              <a:spcBef>
                <a:spcPts val="100"/>
              </a:spcBef>
            </a:pPr>
            <a:r>
              <a:rPr lang="en-US" b="0" kern="0" spc="-5" dirty="0">
                <a:latin typeface="+mj-lt"/>
                <a:cs typeface="Lucida Sans"/>
              </a:rPr>
              <a:t>Single ring resonator – most simple case Constant coupler K (no wavelength variation)</a:t>
            </a:r>
          </a:p>
        </p:txBody>
      </p:sp>
    </p:spTree>
    <p:extLst>
      <p:ext uri="{BB962C8B-B14F-4D97-AF65-F5344CB8AC3E}">
        <p14:creationId xmlns:p14="http://schemas.microsoft.com/office/powerpoint/2010/main" val="5431845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CA2DF-810F-7BDA-CFF3-0CFEE760301A}"/>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4915C280-A84A-95DA-94D2-FE062C8ED61F}"/>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E919F9EF-02D5-71FC-C2BC-F8EC5B26723E}"/>
              </a:ext>
            </a:extLst>
          </p:cNvPr>
          <p:cNvSpPr>
            <a:spLocks noGrp="1"/>
          </p:cNvSpPr>
          <p:nvPr>
            <p:ph type="sldNum" sz="quarter" idx="7"/>
          </p:nvPr>
        </p:nvSpPr>
        <p:spPr/>
        <p:txBody>
          <a:bodyPr/>
          <a:lstStyle/>
          <a:p>
            <a:fld id="{C2F52289-4012-4053-9770-FE82CEB9514F}" type="slidenum">
              <a:rPr lang="en-US" smtClean="0"/>
              <a:pPr/>
              <a:t>8</a:t>
            </a:fld>
            <a:endParaRPr lang="en-US" dirty="0"/>
          </a:p>
        </p:txBody>
      </p:sp>
      <p:sp>
        <p:nvSpPr>
          <p:cNvPr id="8" name="CuadroTexto 7">
            <a:extLst>
              <a:ext uri="{FF2B5EF4-FFF2-40B4-BE49-F238E27FC236}">
                <a16:creationId xmlns:a16="http://schemas.microsoft.com/office/drawing/2014/main" id="{3BC6D2B9-07F5-E2FA-C9AD-029B63B098DA}"/>
              </a:ext>
            </a:extLst>
          </p:cNvPr>
          <p:cNvSpPr txBox="1"/>
          <p:nvPr/>
        </p:nvSpPr>
        <p:spPr>
          <a:xfrm>
            <a:off x="611029" y="4860335"/>
            <a:ext cx="11199530"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describer the transfer function. How’s the dependence on the coupler coefficient? Calculate the Extinction Ratio. How would you achieve critical coupling for the latter design? Justify your answers.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 </a:t>
            </a:r>
          </a:p>
        </p:txBody>
      </p:sp>
      <p:sp>
        <p:nvSpPr>
          <p:cNvPr id="3" name="Rectángulo 2">
            <a:extLst>
              <a:ext uri="{FF2B5EF4-FFF2-40B4-BE49-F238E27FC236}">
                <a16:creationId xmlns:a16="http://schemas.microsoft.com/office/drawing/2014/main" id="{E54DA3AC-DFE0-BB51-7C71-7CD9087359D0}"/>
              </a:ext>
            </a:extLst>
          </p:cNvPr>
          <p:cNvSpPr/>
          <p:nvPr/>
        </p:nvSpPr>
        <p:spPr>
          <a:xfrm>
            <a:off x="8610601" y="1418373"/>
            <a:ext cx="3199959"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sz="1200" b="1" dirty="0">
                <a:solidFill>
                  <a:schemeClr val="tx1"/>
                </a:solidFill>
                <a:latin typeface="Arial" panose="020B0604020202020204" pitchFamily="34" charset="0"/>
                <a:cs typeface="Arial" panose="020B0604020202020204" pitchFamily="34" charset="0"/>
              </a:rPr>
              <a:t>Hints:</a:t>
            </a:r>
            <a:endParaRPr lang="en-US" sz="1200" dirty="0">
              <a:solidFill>
                <a:schemeClr val="tx1"/>
              </a:solidFill>
              <a:latin typeface="Arial" panose="020B0604020202020204" pitchFamily="34" charset="0"/>
              <a:cs typeface="Arial" panose="020B0604020202020204" pitchFamily="34" charset="0"/>
            </a:endParaRPr>
          </a:p>
          <a:p>
            <a:pPr algn="just"/>
            <a:endParaRPr lang="en-US" sz="1200" dirty="0">
              <a:solidFill>
                <a:schemeClr val="tx1"/>
              </a:solidFill>
              <a:latin typeface="Arial" panose="020B0604020202020204" pitchFamily="34" charset="0"/>
              <a:cs typeface="Arial" panose="020B0604020202020204" pitchFamily="34" charset="0"/>
            </a:endParaRPr>
          </a:p>
          <a:p>
            <a:pPr algn="just"/>
            <a:r>
              <a:rPr lang="en-US" sz="1200" dirty="0">
                <a:solidFill>
                  <a:schemeClr val="tx1"/>
                </a:solidFill>
                <a:latin typeface="Arial" panose="020B0604020202020204" pitchFamily="34" charset="0"/>
                <a:cs typeface="Arial" panose="020B0604020202020204" pitchFamily="34" charset="0"/>
              </a:rPr>
              <a:t>Design the perimeter for a FSR = 15 nm. </a:t>
            </a:r>
          </a:p>
          <a:p>
            <a:pPr algn="just"/>
            <a:endParaRPr lang="en-US" sz="1200" dirty="0">
              <a:solidFill>
                <a:schemeClr val="tx1"/>
              </a:solidFill>
              <a:latin typeface="Arial" panose="020B0604020202020204" pitchFamily="34" charset="0"/>
              <a:cs typeface="Arial" panose="020B0604020202020204" pitchFamily="34" charset="0"/>
            </a:endParaRPr>
          </a:p>
          <a:p>
            <a:pPr algn="just"/>
            <a:r>
              <a:rPr lang="en-US" sz="1200" dirty="0">
                <a:solidFill>
                  <a:schemeClr val="tx1"/>
                </a:solidFill>
                <a:latin typeface="Arial" panose="020B0604020202020204" pitchFamily="34" charset="0"/>
                <a:cs typeface="Arial" panose="020B0604020202020204" pitchFamily="34" charset="0"/>
              </a:rPr>
              <a:t>Use equations given in class that relate FSR and perimeter.</a:t>
            </a:r>
          </a:p>
          <a:p>
            <a:pPr algn="just"/>
            <a:endParaRPr lang="en-US" sz="1200" dirty="0">
              <a:solidFill>
                <a:schemeClr val="tx1"/>
              </a:solidFill>
              <a:latin typeface="Arial" panose="020B0604020202020204" pitchFamily="34" charset="0"/>
              <a:cs typeface="Arial" panose="020B0604020202020204" pitchFamily="34" charset="0"/>
            </a:endParaRPr>
          </a:p>
          <a:p>
            <a:pPr algn="just"/>
            <a:endParaRPr lang="en-US" sz="1200" dirty="0">
              <a:solidFill>
                <a:schemeClr val="tx1"/>
              </a:solidFill>
              <a:latin typeface="Arial" panose="020B0604020202020204" pitchFamily="34" charset="0"/>
              <a:cs typeface="Arial" panose="020B0604020202020204" pitchFamily="34" charset="0"/>
            </a:endParaRPr>
          </a:p>
          <a:p>
            <a:pPr algn="just"/>
            <a:endParaRPr lang="en-US" sz="1200" dirty="0">
              <a:solidFill>
                <a:schemeClr val="tx1"/>
              </a:solidFill>
              <a:latin typeface="Arial" panose="020B0604020202020204" pitchFamily="34" charset="0"/>
              <a:cs typeface="Arial" panose="020B0604020202020204" pitchFamily="34" charset="0"/>
            </a:endParaRPr>
          </a:p>
        </p:txBody>
      </p:sp>
      <p:sp>
        <p:nvSpPr>
          <p:cNvPr id="10" name="Rectángulo 9">
            <a:extLst>
              <a:ext uri="{FF2B5EF4-FFF2-40B4-BE49-F238E27FC236}">
                <a16:creationId xmlns:a16="http://schemas.microsoft.com/office/drawing/2014/main" id="{82011495-88D4-8787-6CB7-704897D84CF9}"/>
              </a:ext>
            </a:extLst>
          </p:cNvPr>
          <p:cNvSpPr/>
          <p:nvPr/>
        </p:nvSpPr>
        <p:spPr>
          <a:xfrm>
            <a:off x="611030" y="1418373"/>
            <a:ext cx="3810000"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uadroTexto 11">
            <a:extLst>
              <a:ext uri="{FF2B5EF4-FFF2-40B4-BE49-F238E27FC236}">
                <a16:creationId xmlns:a16="http://schemas.microsoft.com/office/drawing/2014/main" id="{3BD35A6E-6540-9761-4128-0E43122290D4}"/>
              </a:ext>
            </a:extLst>
          </p:cNvPr>
          <p:cNvSpPr txBox="1"/>
          <p:nvPr/>
        </p:nvSpPr>
        <p:spPr>
          <a:xfrm>
            <a:off x="5536543" y="2494307"/>
            <a:ext cx="2033313" cy="1323439"/>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err="1"/>
              <a:t>Logaritmic</a:t>
            </a:r>
            <a:r>
              <a:rPr lang="es-ES" sz="2000" dirty="0"/>
              <a:t> </a:t>
            </a:r>
            <a:r>
              <a:rPr lang="es-ES" sz="2000" dirty="0" err="1"/>
              <a:t>units</a:t>
            </a:r>
            <a:endParaRPr lang="en-US" sz="2000" dirty="0"/>
          </a:p>
        </p:txBody>
      </p:sp>
      <p:sp>
        <p:nvSpPr>
          <p:cNvPr id="13" name="Rectángulo 12">
            <a:extLst>
              <a:ext uri="{FF2B5EF4-FFF2-40B4-BE49-F238E27FC236}">
                <a16:creationId xmlns:a16="http://schemas.microsoft.com/office/drawing/2014/main" id="{03798D61-1E16-8473-BDCE-1D97F95EF7BE}"/>
              </a:ext>
            </a:extLst>
          </p:cNvPr>
          <p:cNvSpPr/>
          <p:nvPr/>
        </p:nvSpPr>
        <p:spPr>
          <a:xfrm>
            <a:off x="4648200" y="1418373"/>
            <a:ext cx="3810000"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uadroTexto 15">
            <a:extLst>
              <a:ext uri="{FF2B5EF4-FFF2-40B4-BE49-F238E27FC236}">
                <a16:creationId xmlns:a16="http://schemas.microsoft.com/office/drawing/2014/main" id="{B49B3613-E785-3FCB-DA8D-2B43EB104C5D}"/>
              </a:ext>
            </a:extLst>
          </p:cNvPr>
          <p:cNvSpPr txBox="1"/>
          <p:nvPr/>
        </p:nvSpPr>
        <p:spPr>
          <a:xfrm>
            <a:off x="1499379" y="2478160"/>
            <a:ext cx="2033313" cy="1323439"/>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a:t>Linear </a:t>
            </a:r>
            <a:r>
              <a:rPr lang="es-ES" sz="2000" dirty="0" err="1"/>
              <a:t>units</a:t>
            </a:r>
            <a:endParaRPr lang="en-US" sz="2000" dirty="0"/>
          </a:p>
        </p:txBody>
      </p:sp>
      <p:pic>
        <p:nvPicPr>
          <p:cNvPr id="11" name="Gráfico 10">
            <a:extLst>
              <a:ext uri="{FF2B5EF4-FFF2-40B4-BE49-F238E27FC236}">
                <a16:creationId xmlns:a16="http://schemas.microsoft.com/office/drawing/2014/main" id="{64B3EEA8-5B6A-F628-0B9C-42450CEE9BE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4" name="object 16">
            <a:extLst>
              <a:ext uri="{FF2B5EF4-FFF2-40B4-BE49-F238E27FC236}">
                <a16:creationId xmlns:a16="http://schemas.microsoft.com/office/drawing/2014/main" id="{4E9E05B5-9445-DD50-60E9-03B04ED264D4}"/>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#5 – Ring resonator design</a:t>
            </a:r>
          </a:p>
          <a:p>
            <a:pPr marL="12700">
              <a:spcBef>
                <a:spcPts val="100"/>
              </a:spcBef>
            </a:pPr>
            <a:r>
              <a:rPr lang="en-US" b="0" kern="0" spc="-5" dirty="0">
                <a:latin typeface="+mj-lt"/>
                <a:cs typeface="Lucida Sans"/>
              </a:rPr>
              <a:t>Design the perimeter for a FSR = 15 nm. </a:t>
            </a:r>
          </a:p>
        </p:txBody>
      </p:sp>
    </p:spTree>
    <p:extLst>
      <p:ext uri="{BB962C8B-B14F-4D97-AF65-F5344CB8AC3E}">
        <p14:creationId xmlns:p14="http://schemas.microsoft.com/office/powerpoint/2010/main" val="29159892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9</a:t>
            </a:fld>
            <a:endParaRPr lang="en-US" dirty="0"/>
          </a:p>
        </p:txBody>
      </p:sp>
      <p:sp>
        <p:nvSpPr>
          <p:cNvPr id="8" name="CuadroTexto 7">
            <a:extLst>
              <a:ext uri="{FF2B5EF4-FFF2-40B4-BE49-F238E27FC236}">
                <a16:creationId xmlns:a16="http://schemas.microsoft.com/office/drawing/2014/main" id="{D9601617-351E-AE1A-1F4D-693F2EA59361}"/>
              </a:ext>
            </a:extLst>
          </p:cNvPr>
          <p:cNvSpPr txBox="1"/>
          <p:nvPr/>
        </p:nvSpPr>
        <p:spPr>
          <a:xfrm>
            <a:off x="611029" y="4860335"/>
            <a:ext cx="11199530" cy="646331"/>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Try to classify the resonances, in which case are you close to critical coupling? Why?</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11" name="Rectángulo 10">
            <a:extLst>
              <a:ext uri="{FF2B5EF4-FFF2-40B4-BE49-F238E27FC236}">
                <a16:creationId xmlns:a16="http://schemas.microsoft.com/office/drawing/2014/main" id="{B811A5F9-C0B5-716C-70FB-9472E1BC2CD3}"/>
              </a:ext>
            </a:extLst>
          </p:cNvPr>
          <p:cNvSpPr/>
          <p:nvPr/>
        </p:nvSpPr>
        <p:spPr>
          <a:xfrm>
            <a:off x="611030" y="1418373"/>
            <a:ext cx="2538552"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ángulo 13">
            <a:extLst>
              <a:ext uri="{FF2B5EF4-FFF2-40B4-BE49-F238E27FC236}">
                <a16:creationId xmlns:a16="http://schemas.microsoft.com/office/drawing/2014/main" id="{6AA857E7-5C39-DCE1-10B5-40300FCF4B26}"/>
              </a:ext>
            </a:extLst>
          </p:cNvPr>
          <p:cNvSpPr/>
          <p:nvPr/>
        </p:nvSpPr>
        <p:spPr>
          <a:xfrm>
            <a:off x="3277315" y="1419036"/>
            <a:ext cx="2538552"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uadroTexto 14">
            <a:extLst>
              <a:ext uri="{FF2B5EF4-FFF2-40B4-BE49-F238E27FC236}">
                <a16:creationId xmlns:a16="http://schemas.microsoft.com/office/drawing/2014/main" id="{54CF28B4-1346-F41D-2CD8-EA104ABBFB98}"/>
              </a:ext>
            </a:extLst>
          </p:cNvPr>
          <p:cNvSpPr txBox="1"/>
          <p:nvPr/>
        </p:nvSpPr>
        <p:spPr>
          <a:xfrm>
            <a:off x="863650" y="2101891"/>
            <a:ext cx="2033313" cy="1938992"/>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a:t>Linear </a:t>
            </a:r>
            <a:r>
              <a:rPr lang="es-ES" sz="2000" dirty="0" err="1"/>
              <a:t>units</a:t>
            </a:r>
            <a:endParaRPr lang="es-ES" sz="2000" dirty="0"/>
          </a:p>
          <a:p>
            <a:pPr algn="ctr"/>
            <a:endParaRPr lang="es-ES" sz="2000" dirty="0"/>
          </a:p>
          <a:p>
            <a:pPr algn="ctr"/>
            <a:r>
              <a:rPr lang="es-ES" sz="2000" dirty="0"/>
              <a:t>K=</a:t>
            </a:r>
            <a:endParaRPr lang="en-US" sz="2000" dirty="0"/>
          </a:p>
        </p:txBody>
      </p:sp>
      <p:sp>
        <p:nvSpPr>
          <p:cNvPr id="9" name="Rectángulo 8">
            <a:extLst>
              <a:ext uri="{FF2B5EF4-FFF2-40B4-BE49-F238E27FC236}">
                <a16:creationId xmlns:a16="http://schemas.microsoft.com/office/drawing/2014/main" id="{11F0F5FC-B571-59FC-7890-3105A6A843BB}"/>
              </a:ext>
            </a:extLst>
          </p:cNvPr>
          <p:cNvSpPr/>
          <p:nvPr/>
        </p:nvSpPr>
        <p:spPr>
          <a:xfrm>
            <a:off x="5943600" y="1418373"/>
            <a:ext cx="2538552"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uadroTexto 9">
            <a:extLst>
              <a:ext uri="{FF2B5EF4-FFF2-40B4-BE49-F238E27FC236}">
                <a16:creationId xmlns:a16="http://schemas.microsoft.com/office/drawing/2014/main" id="{3146642F-220B-8F6A-59A8-2D128DDF3BEB}"/>
              </a:ext>
            </a:extLst>
          </p:cNvPr>
          <p:cNvSpPr txBox="1"/>
          <p:nvPr/>
        </p:nvSpPr>
        <p:spPr>
          <a:xfrm>
            <a:off x="3529935" y="2104638"/>
            <a:ext cx="2033313" cy="1938992"/>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a:t>Linear </a:t>
            </a:r>
            <a:r>
              <a:rPr lang="es-ES" sz="2000" dirty="0" err="1"/>
              <a:t>units</a:t>
            </a:r>
            <a:endParaRPr lang="es-ES" sz="2000" dirty="0"/>
          </a:p>
          <a:p>
            <a:pPr algn="ctr"/>
            <a:endParaRPr lang="es-ES" sz="2000" dirty="0"/>
          </a:p>
          <a:p>
            <a:pPr algn="ctr"/>
            <a:r>
              <a:rPr lang="es-ES" sz="2000" dirty="0"/>
              <a:t>K=</a:t>
            </a:r>
            <a:endParaRPr lang="en-US" sz="2000" dirty="0"/>
          </a:p>
        </p:txBody>
      </p:sp>
      <p:sp>
        <p:nvSpPr>
          <p:cNvPr id="13" name="CuadroTexto 12">
            <a:extLst>
              <a:ext uri="{FF2B5EF4-FFF2-40B4-BE49-F238E27FC236}">
                <a16:creationId xmlns:a16="http://schemas.microsoft.com/office/drawing/2014/main" id="{057C499E-829F-FB11-9128-843C937CB822}"/>
              </a:ext>
            </a:extLst>
          </p:cNvPr>
          <p:cNvSpPr txBox="1"/>
          <p:nvPr/>
        </p:nvSpPr>
        <p:spPr>
          <a:xfrm>
            <a:off x="6195187" y="2101891"/>
            <a:ext cx="2033313" cy="1938992"/>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a:t>Linear </a:t>
            </a:r>
            <a:r>
              <a:rPr lang="es-ES" sz="2000" dirty="0" err="1"/>
              <a:t>units</a:t>
            </a:r>
            <a:endParaRPr lang="es-ES" sz="2000" dirty="0"/>
          </a:p>
          <a:p>
            <a:pPr algn="ctr"/>
            <a:endParaRPr lang="es-ES" sz="2000" dirty="0"/>
          </a:p>
          <a:p>
            <a:pPr algn="ctr"/>
            <a:r>
              <a:rPr lang="es-ES" sz="2000" dirty="0"/>
              <a:t>K=</a:t>
            </a:r>
            <a:endParaRPr lang="en-US" sz="2000" dirty="0"/>
          </a:p>
        </p:txBody>
      </p:sp>
      <p:sp>
        <p:nvSpPr>
          <p:cNvPr id="12" name="CuadroTexto 11">
            <a:extLst>
              <a:ext uri="{FF2B5EF4-FFF2-40B4-BE49-F238E27FC236}">
                <a16:creationId xmlns:a16="http://schemas.microsoft.com/office/drawing/2014/main" id="{4E78CC89-1377-28A4-024D-1B017D551FC5}"/>
              </a:ext>
            </a:extLst>
          </p:cNvPr>
          <p:cNvSpPr txBox="1"/>
          <p:nvPr/>
        </p:nvSpPr>
        <p:spPr>
          <a:xfrm>
            <a:off x="9869875" y="2871332"/>
            <a:ext cx="360996" cy="400110"/>
          </a:xfrm>
          <a:prstGeom prst="rect">
            <a:avLst/>
          </a:prstGeom>
          <a:noFill/>
        </p:spPr>
        <p:txBody>
          <a:bodyPr wrap="none" rtlCol="0">
            <a:spAutoFit/>
          </a:bodyPr>
          <a:lstStyle/>
          <a:p>
            <a:pPr algn="ctr"/>
            <a:r>
              <a:rPr lang="es-ES" sz="2000" dirty="0"/>
              <a:t>…</a:t>
            </a:r>
            <a:endParaRPr lang="en-US" sz="2000" dirty="0"/>
          </a:p>
        </p:txBody>
      </p:sp>
      <p:pic>
        <p:nvPicPr>
          <p:cNvPr id="3" name="Gráfico 2">
            <a:extLst>
              <a:ext uri="{FF2B5EF4-FFF2-40B4-BE49-F238E27FC236}">
                <a16:creationId xmlns:a16="http://schemas.microsoft.com/office/drawing/2014/main" id="{0B245A9E-6C9A-F3A8-E4B7-66158012641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6" name="object 16">
            <a:extLst>
              <a:ext uri="{FF2B5EF4-FFF2-40B4-BE49-F238E27FC236}">
                <a16:creationId xmlns:a16="http://schemas.microsoft.com/office/drawing/2014/main" id="{8266F13B-05F1-81DE-B638-66D10EEB9FA2}"/>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#6a – Effect of K </a:t>
            </a:r>
          </a:p>
          <a:p>
            <a:pPr marL="12700">
              <a:spcBef>
                <a:spcPts val="100"/>
              </a:spcBef>
            </a:pPr>
            <a:r>
              <a:rPr lang="en-US" b="0" kern="0" spc="-5" dirty="0">
                <a:latin typeface="+mj-lt"/>
                <a:cs typeface="Lucida Sans"/>
              </a:rPr>
              <a:t>Change K value between 0.1 and 0.9 in steps of 0.1</a:t>
            </a:r>
          </a:p>
        </p:txBody>
      </p:sp>
    </p:spTree>
    <p:extLst>
      <p:ext uri="{BB962C8B-B14F-4D97-AF65-F5344CB8AC3E}">
        <p14:creationId xmlns:p14="http://schemas.microsoft.com/office/powerpoint/2010/main" val="19316252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10</a:t>
            </a:fld>
            <a:endParaRPr lang="en-US" dirty="0"/>
          </a:p>
        </p:txBody>
      </p:sp>
      <p:sp>
        <p:nvSpPr>
          <p:cNvPr id="8" name="CuadroTexto 7">
            <a:extLst>
              <a:ext uri="{FF2B5EF4-FFF2-40B4-BE49-F238E27FC236}">
                <a16:creationId xmlns:a16="http://schemas.microsoft.com/office/drawing/2014/main" id="{D9601617-351E-AE1A-1F4D-693F2EA59361}"/>
              </a:ext>
            </a:extLst>
          </p:cNvPr>
          <p:cNvSpPr txBox="1"/>
          <p:nvPr/>
        </p:nvSpPr>
        <p:spPr>
          <a:xfrm>
            <a:off x="611029" y="4860335"/>
            <a:ext cx="11199530" cy="830997"/>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Try to classify the resonances, in which case are you close to critical coupling? Why?</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11" name="Rectángulo 10">
            <a:extLst>
              <a:ext uri="{FF2B5EF4-FFF2-40B4-BE49-F238E27FC236}">
                <a16:creationId xmlns:a16="http://schemas.microsoft.com/office/drawing/2014/main" id="{B811A5F9-C0B5-716C-70FB-9472E1BC2CD3}"/>
              </a:ext>
            </a:extLst>
          </p:cNvPr>
          <p:cNvSpPr/>
          <p:nvPr/>
        </p:nvSpPr>
        <p:spPr>
          <a:xfrm>
            <a:off x="611030" y="1418373"/>
            <a:ext cx="2538552"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ángulo 13">
            <a:extLst>
              <a:ext uri="{FF2B5EF4-FFF2-40B4-BE49-F238E27FC236}">
                <a16:creationId xmlns:a16="http://schemas.microsoft.com/office/drawing/2014/main" id="{6AA857E7-5C39-DCE1-10B5-40300FCF4B26}"/>
              </a:ext>
            </a:extLst>
          </p:cNvPr>
          <p:cNvSpPr/>
          <p:nvPr/>
        </p:nvSpPr>
        <p:spPr>
          <a:xfrm>
            <a:off x="3277315" y="1419036"/>
            <a:ext cx="2538552"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uadroTexto 14">
            <a:extLst>
              <a:ext uri="{FF2B5EF4-FFF2-40B4-BE49-F238E27FC236}">
                <a16:creationId xmlns:a16="http://schemas.microsoft.com/office/drawing/2014/main" id="{54CF28B4-1346-F41D-2CD8-EA104ABBFB98}"/>
              </a:ext>
            </a:extLst>
          </p:cNvPr>
          <p:cNvSpPr txBox="1"/>
          <p:nvPr/>
        </p:nvSpPr>
        <p:spPr>
          <a:xfrm>
            <a:off x="863650" y="2101891"/>
            <a:ext cx="2033313" cy="1938992"/>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a:t>Linear </a:t>
            </a:r>
            <a:r>
              <a:rPr lang="es-ES" sz="2000" dirty="0" err="1"/>
              <a:t>units</a:t>
            </a:r>
            <a:endParaRPr lang="es-ES" sz="2000" dirty="0"/>
          </a:p>
          <a:p>
            <a:pPr algn="ctr"/>
            <a:endParaRPr lang="es-ES" sz="2000" dirty="0"/>
          </a:p>
          <a:p>
            <a:pPr algn="ctr"/>
            <a:r>
              <a:rPr lang="es-ES" sz="2000" dirty="0" err="1"/>
              <a:t>alpha</a:t>
            </a:r>
            <a:r>
              <a:rPr lang="es-ES" sz="2000" dirty="0"/>
              <a:t>=0 dB/cm</a:t>
            </a:r>
            <a:endParaRPr lang="en-US" sz="2000" dirty="0"/>
          </a:p>
        </p:txBody>
      </p:sp>
      <p:sp>
        <p:nvSpPr>
          <p:cNvPr id="9" name="Rectángulo 8">
            <a:extLst>
              <a:ext uri="{FF2B5EF4-FFF2-40B4-BE49-F238E27FC236}">
                <a16:creationId xmlns:a16="http://schemas.microsoft.com/office/drawing/2014/main" id="{11F0F5FC-B571-59FC-7890-3105A6A843BB}"/>
              </a:ext>
            </a:extLst>
          </p:cNvPr>
          <p:cNvSpPr/>
          <p:nvPr/>
        </p:nvSpPr>
        <p:spPr>
          <a:xfrm>
            <a:off x="5943600" y="1418373"/>
            <a:ext cx="2538552"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uadroTexto 9">
            <a:extLst>
              <a:ext uri="{FF2B5EF4-FFF2-40B4-BE49-F238E27FC236}">
                <a16:creationId xmlns:a16="http://schemas.microsoft.com/office/drawing/2014/main" id="{3146642F-220B-8F6A-59A8-2D128DDF3BEB}"/>
              </a:ext>
            </a:extLst>
          </p:cNvPr>
          <p:cNvSpPr txBox="1"/>
          <p:nvPr/>
        </p:nvSpPr>
        <p:spPr>
          <a:xfrm>
            <a:off x="3529935" y="2104638"/>
            <a:ext cx="2033313" cy="1938992"/>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a:t>Linear </a:t>
            </a:r>
            <a:r>
              <a:rPr lang="es-ES" sz="2000" dirty="0" err="1"/>
              <a:t>units</a:t>
            </a:r>
            <a:endParaRPr lang="es-ES" sz="2000" dirty="0"/>
          </a:p>
          <a:p>
            <a:pPr algn="ctr"/>
            <a:endParaRPr lang="es-ES" sz="2000" dirty="0"/>
          </a:p>
          <a:p>
            <a:pPr algn="ctr"/>
            <a:r>
              <a:rPr lang="es-ES" sz="2000" dirty="0" err="1"/>
              <a:t>alpha</a:t>
            </a:r>
            <a:r>
              <a:rPr lang="es-ES" sz="2000" dirty="0"/>
              <a:t>=1 dB/cm</a:t>
            </a:r>
            <a:endParaRPr lang="en-US" sz="2000" dirty="0"/>
          </a:p>
        </p:txBody>
      </p:sp>
      <p:sp>
        <p:nvSpPr>
          <p:cNvPr id="13" name="CuadroTexto 12">
            <a:extLst>
              <a:ext uri="{FF2B5EF4-FFF2-40B4-BE49-F238E27FC236}">
                <a16:creationId xmlns:a16="http://schemas.microsoft.com/office/drawing/2014/main" id="{057C499E-829F-FB11-9128-843C937CB822}"/>
              </a:ext>
            </a:extLst>
          </p:cNvPr>
          <p:cNvSpPr txBox="1"/>
          <p:nvPr/>
        </p:nvSpPr>
        <p:spPr>
          <a:xfrm>
            <a:off x="6195187" y="2101891"/>
            <a:ext cx="2033313" cy="1938992"/>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a:t>Linear </a:t>
            </a:r>
            <a:r>
              <a:rPr lang="es-ES" sz="2000" dirty="0" err="1"/>
              <a:t>units</a:t>
            </a:r>
            <a:endParaRPr lang="es-ES" sz="2000" dirty="0"/>
          </a:p>
          <a:p>
            <a:pPr algn="ctr"/>
            <a:endParaRPr lang="es-ES" sz="2000" dirty="0"/>
          </a:p>
          <a:p>
            <a:pPr algn="ctr"/>
            <a:r>
              <a:rPr lang="es-ES" sz="2000" dirty="0" err="1"/>
              <a:t>alpha</a:t>
            </a:r>
            <a:r>
              <a:rPr lang="es-ES" sz="2000" dirty="0"/>
              <a:t>=2 dB/cm</a:t>
            </a:r>
            <a:endParaRPr lang="en-US" sz="2000" dirty="0"/>
          </a:p>
        </p:txBody>
      </p:sp>
      <p:sp>
        <p:nvSpPr>
          <p:cNvPr id="12" name="Rectángulo 11">
            <a:extLst>
              <a:ext uri="{FF2B5EF4-FFF2-40B4-BE49-F238E27FC236}">
                <a16:creationId xmlns:a16="http://schemas.microsoft.com/office/drawing/2014/main" id="{D9D5941A-D9F5-22E7-7E85-0D04C2B214EC}"/>
              </a:ext>
            </a:extLst>
          </p:cNvPr>
          <p:cNvSpPr/>
          <p:nvPr/>
        </p:nvSpPr>
        <p:spPr>
          <a:xfrm>
            <a:off x="8609885" y="1418373"/>
            <a:ext cx="2538552"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uadroTexto 15">
            <a:extLst>
              <a:ext uri="{FF2B5EF4-FFF2-40B4-BE49-F238E27FC236}">
                <a16:creationId xmlns:a16="http://schemas.microsoft.com/office/drawing/2014/main" id="{4A6C8490-F65B-32C9-44E8-9A1A1A1B1769}"/>
              </a:ext>
            </a:extLst>
          </p:cNvPr>
          <p:cNvSpPr txBox="1"/>
          <p:nvPr/>
        </p:nvSpPr>
        <p:spPr>
          <a:xfrm>
            <a:off x="8861472" y="2101891"/>
            <a:ext cx="2033313" cy="1938992"/>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a:t>Linear </a:t>
            </a:r>
            <a:r>
              <a:rPr lang="es-ES" sz="2000" dirty="0" err="1"/>
              <a:t>units</a:t>
            </a:r>
            <a:endParaRPr lang="es-ES" sz="2000" dirty="0"/>
          </a:p>
          <a:p>
            <a:pPr algn="ctr"/>
            <a:endParaRPr lang="es-ES" sz="2000" dirty="0"/>
          </a:p>
          <a:p>
            <a:pPr algn="ctr"/>
            <a:r>
              <a:rPr lang="es-ES" sz="2000" dirty="0" err="1"/>
              <a:t>alpha</a:t>
            </a:r>
            <a:r>
              <a:rPr lang="es-ES" sz="2000" dirty="0"/>
              <a:t>=2 dB/cm</a:t>
            </a:r>
            <a:endParaRPr lang="en-US" sz="2000" dirty="0"/>
          </a:p>
        </p:txBody>
      </p:sp>
      <p:pic>
        <p:nvPicPr>
          <p:cNvPr id="17" name="Gráfico 16">
            <a:extLst>
              <a:ext uri="{FF2B5EF4-FFF2-40B4-BE49-F238E27FC236}">
                <a16:creationId xmlns:a16="http://schemas.microsoft.com/office/drawing/2014/main" id="{16D15CB1-2EB9-A3F2-8611-C524CCD1CAE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8" name="object 16">
            <a:extLst>
              <a:ext uri="{FF2B5EF4-FFF2-40B4-BE49-F238E27FC236}">
                <a16:creationId xmlns:a16="http://schemas.microsoft.com/office/drawing/2014/main" id="{989133D6-A9B3-EFEA-2703-51A6BDA0A885}"/>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#6b – E</a:t>
            </a:r>
            <a:r>
              <a:rPr lang="en-US" sz="2500" dirty="0"/>
              <a:t>ffect of loss</a:t>
            </a:r>
            <a:endParaRPr lang="en-US" sz="2500" kern="0" dirty="0"/>
          </a:p>
          <a:p>
            <a:pPr marL="12700">
              <a:spcBef>
                <a:spcPts val="100"/>
              </a:spcBef>
            </a:pPr>
            <a:r>
              <a:rPr lang="en-US" b="0" kern="0" spc="-5" dirty="0">
                <a:latin typeface="+mj-lt"/>
                <a:cs typeface="Lucida Sans"/>
              </a:rPr>
              <a:t>Change losses value between 0 and 8 </a:t>
            </a:r>
            <a:r>
              <a:rPr lang="en-US" b="0" kern="0" spc="-5" dirty="0">
                <a:solidFill>
                  <a:srgbClr val="FF0000"/>
                </a:solidFill>
                <a:latin typeface="+mj-lt"/>
                <a:cs typeface="Lucida Sans"/>
              </a:rPr>
              <a:t>dB/cm </a:t>
            </a:r>
            <a:r>
              <a:rPr lang="en-US" b="0" kern="0" spc="-5" dirty="0">
                <a:latin typeface="+mj-lt"/>
                <a:cs typeface="Lucida Sans"/>
              </a:rPr>
              <a:t>in steps of 1</a:t>
            </a:r>
          </a:p>
        </p:txBody>
      </p:sp>
    </p:spTree>
    <p:extLst>
      <p:ext uri="{BB962C8B-B14F-4D97-AF65-F5344CB8AC3E}">
        <p14:creationId xmlns:p14="http://schemas.microsoft.com/office/powerpoint/2010/main" val="14611966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11</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790</TotalTime>
  <Words>834</Words>
  <Application>Microsoft Office PowerPoint</Application>
  <PresentationFormat>Panorámica</PresentationFormat>
  <Paragraphs>195</Paragraphs>
  <Slides>11</Slides>
  <Notes>2</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11</vt:i4>
      </vt:variant>
    </vt:vector>
  </HeadingPairs>
  <TitlesOfParts>
    <vt:vector size="17" baseType="lpstr">
      <vt:lpstr>Aptos</vt:lpstr>
      <vt:lpstr>Arial</vt:lpstr>
      <vt:lpstr>Calibri</vt:lpstr>
      <vt:lpstr>Lucida Sans</vt:lpstr>
      <vt:lpstr>Wingdings</vt:lpstr>
      <vt:lpstr>Office Theme</vt:lpstr>
      <vt:lpstr>Presentación de PowerPoint</vt:lpstr>
      <vt:lpstr>Instructions General</vt:lpstr>
      <vt:lpstr>Learning outcome #1a – Perfectly balanced MZI </vt:lpstr>
      <vt:lpstr>Learning outcome #1b – Unbalanced MZI </vt:lpstr>
      <vt:lpstr>Presentación de PowerPoint</vt:lpstr>
      <vt:lpstr>Presentación de PowerPoint</vt:lpstr>
      <vt:lpstr>Presentación de PowerPoint</vt:lpstr>
      <vt:lpstr>Presentación de PowerPoint</vt:lpstr>
      <vt:lpstr>Presentación de PowerPoint</vt:lpstr>
      <vt:lpstr>Presentación de PowerPoint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Christian Camilo Cano Vasquez</cp:lastModifiedBy>
  <cp:revision>13</cp:revision>
  <dcterms:created xsi:type="dcterms:W3CDTF">2025-01-27T02:46:57Z</dcterms:created>
  <dcterms:modified xsi:type="dcterms:W3CDTF">2026-05-03T08:19:36Z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